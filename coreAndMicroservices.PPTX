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33"/>
  </p:notesMasterIdLst>
  <p:handoutMasterIdLst>
    <p:handoutMasterId r:id="rId34"/>
  </p:handoutMasterIdLst>
  <p:sldIdLst>
    <p:sldId id="256" r:id="rId2"/>
    <p:sldId id="257" r:id="rId3"/>
    <p:sldId id="259" r:id="rId4"/>
    <p:sldId id="260" r:id="rId5"/>
    <p:sldId id="261" r:id="rId6"/>
    <p:sldId id="262" r:id="rId7"/>
    <p:sldId id="263" r:id="rId8"/>
    <p:sldId id="264" r:id="rId9"/>
    <p:sldId id="292" r:id="rId10"/>
    <p:sldId id="286" r:id="rId11"/>
    <p:sldId id="287" r:id="rId12"/>
    <p:sldId id="288" r:id="rId13"/>
    <p:sldId id="289" r:id="rId14"/>
    <p:sldId id="290" r:id="rId15"/>
    <p:sldId id="291" r:id="rId16"/>
    <p:sldId id="266" r:id="rId17"/>
    <p:sldId id="267" r:id="rId18"/>
    <p:sldId id="268" r:id="rId19"/>
    <p:sldId id="271" r:id="rId20"/>
    <p:sldId id="269" r:id="rId21"/>
    <p:sldId id="270" r:id="rId22"/>
    <p:sldId id="272" r:id="rId23"/>
    <p:sldId id="282" r:id="rId24"/>
    <p:sldId id="283" r:id="rId25"/>
    <p:sldId id="285" r:id="rId26"/>
    <p:sldId id="284" r:id="rId27"/>
    <p:sldId id="278" r:id="rId28"/>
    <p:sldId id="275" r:id="rId29"/>
    <p:sldId id="281" r:id="rId30"/>
    <p:sldId id="276" r:id="rId31"/>
    <p:sldId id="265" r:id="rId32"/>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013" autoAdjust="0"/>
    <p:restoredTop sz="94660"/>
  </p:normalViewPr>
  <p:slideViewPr>
    <p:cSldViewPr snapToGrid="0">
      <p:cViewPr varScale="1">
        <p:scale>
          <a:sx n="109" d="100"/>
          <a:sy n="109" d="100"/>
        </p:scale>
        <p:origin x="1038" y="156"/>
      </p:cViewPr>
      <p:guideLst/>
    </p:cSldViewPr>
  </p:slideViewPr>
  <p:notesTextViewPr>
    <p:cViewPr>
      <p:scale>
        <a:sx n="1" d="1"/>
        <a:sy n="1" d="1"/>
      </p:scale>
      <p:origin x="0" y="0"/>
    </p:cViewPr>
  </p:notesTextViewPr>
  <p:notesViewPr>
    <p:cSldViewPr snapToGrid="0">
      <p:cViewPr varScale="1">
        <p:scale>
          <a:sx n="82" d="100"/>
          <a:sy n="82" d="100"/>
        </p:scale>
        <p:origin x="203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1E0EE0C9-A4BD-417D-BFF6-7BF776846D4E}" type="datetimeFigureOut">
              <a:rPr lang="he-IL" smtClean="0"/>
              <a:t>ט"ו/חשון/תש"פ</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DF14D9C0-0AC3-44FD-9ECE-7A87A17B7B9E}" type="slidenum">
              <a:rPr lang="he-IL" smtClean="0"/>
              <a:t>‹#›</a:t>
            </a:fld>
            <a:endParaRPr lang="he-IL"/>
          </a:p>
        </p:txBody>
      </p:sp>
    </p:spTree>
    <p:extLst>
      <p:ext uri="{BB962C8B-B14F-4D97-AF65-F5344CB8AC3E}">
        <p14:creationId xmlns:p14="http://schemas.microsoft.com/office/powerpoint/2010/main" val="36157901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E82293-FAC1-4F6A-8FB5-86C086FF9DC4}" type="datetimeFigureOut">
              <a:rPr lang="en-US" smtClean="0"/>
              <a:t>11/13/2019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67A5A-AAD8-4D30-BFEC-E03A42767668}" type="slidenum">
              <a:rPr lang="en-US" smtClean="0"/>
              <a:t>‹#›</a:t>
            </a:fld>
            <a:endParaRPr lang="en-US"/>
          </a:p>
        </p:txBody>
      </p:sp>
    </p:spTree>
    <p:extLst>
      <p:ext uri="{BB962C8B-B14F-4D97-AF65-F5344CB8AC3E}">
        <p14:creationId xmlns:p14="http://schemas.microsoft.com/office/powerpoint/2010/main" val="240926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פריסה מותאמת אישית">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0129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פריסה מותאמת אישית">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279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שקופית כותרת">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33383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535293"/>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1" r:id="rId3"/>
  </p:sldLayoutIdLst>
  <p:txStyles>
    <p:titleStyle>
      <a:lvl1pPr algn="l"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00150" y="2124075"/>
            <a:ext cx="6743700" cy="3046988"/>
          </a:xfrm>
          <a:prstGeom prst="rect">
            <a:avLst/>
          </a:prstGeom>
          <a:noFill/>
        </p:spPr>
        <p:txBody>
          <a:bodyPr wrap="square" rtlCol="1">
            <a:spAutoFit/>
          </a:bodyPr>
          <a:lstStyle/>
          <a:p>
            <a:pPr algn="ctr"/>
            <a:r>
              <a:rPr lang="en-US" sz="9600" spc="-150" dirty="0" err="1" smtClean="0">
                <a:solidFill>
                  <a:schemeClr val="bg1"/>
                </a:solidFill>
                <a:cs typeface="OronMF" pitchFamily="2" charset="-79"/>
              </a:rPr>
              <a:t>.net</a:t>
            </a:r>
            <a:r>
              <a:rPr lang="en-US" sz="9600" spc="-150" dirty="0" smtClean="0">
                <a:solidFill>
                  <a:schemeClr val="bg1"/>
                </a:solidFill>
                <a:cs typeface="OronMF" pitchFamily="2" charset="-79"/>
              </a:rPr>
              <a:t> core &amp; </a:t>
            </a:r>
            <a:r>
              <a:rPr lang="en-US" sz="9600" spc="-150" dirty="0" err="1" smtClean="0">
                <a:solidFill>
                  <a:schemeClr val="bg1"/>
                </a:solidFill>
                <a:cs typeface="OronMF" pitchFamily="2" charset="-79"/>
              </a:rPr>
              <a:t>microservices</a:t>
            </a:r>
            <a:endParaRPr lang="he-IL" sz="9600" spc="-150" dirty="0">
              <a:solidFill>
                <a:schemeClr val="bg1"/>
              </a:solidFill>
              <a:cs typeface="OronMF" pitchFamily="2" charset="-79"/>
            </a:endParaRPr>
          </a:p>
        </p:txBody>
      </p:sp>
      <p:sp>
        <p:nvSpPr>
          <p:cNvPr id="2" name="TextBox 1"/>
          <p:cNvSpPr txBox="1"/>
          <p:nvPr/>
        </p:nvSpPr>
        <p:spPr>
          <a:xfrm>
            <a:off x="4684143" y="5171063"/>
            <a:ext cx="4088921" cy="369332"/>
          </a:xfrm>
          <a:prstGeom prst="rect">
            <a:avLst/>
          </a:prstGeom>
          <a:noFill/>
        </p:spPr>
        <p:txBody>
          <a:bodyPr wrap="square" rtlCol="0">
            <a:spAutoFit/>
          </a:bodyPr>
          <a:lstStyle/>
          <a:p>
            <a:r>
              <a:rPr lang="en-US" dirty="0" smtClean="0"/>
              <a:t>Shimon </a:t>
            </a:r>
            <a:r>
              <a:rPr lang="en-US" dirty="0" err="1" smtClean="0"/>
              <a:t>Dahan</a:t>
            </a:r>
            <a:r>
              <a:rPr lang="en-US" dirty="0" smtClean="0"/>
              <a:t> </a:t>
            </a:r>
            <a:r>
              <a:rPr lang="en-IL" dirty="0" smtClean="0"/>
              <a:t>–</a:t>
            </a:r>
            <a:r>
              <a:rPr lang="en-US" dirty="0" smtClean="0"/>
              <a:t> sdahan@jbh.co.il</a:t>
            </a:r>
            <a:endParaRPr lang="en-US" dirty="0"/>
          </a:p>
        </p:txBody>
      </p:sp>
    </p:spTree>
    <p:extLst>
      <p:ext uri="{BB962C8B-B14F-4D97-AF65-F5344CB8AC3E}">
        <p14:creationId xmlns:p14="http://schemas.microsoft.com/office/powerpoint/2010/main" val="33769776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5555" y="2001328"/>
            <a:ext cx="7263441" cy="4261449"/>
          </a:xfrm>
          <a:prstGeom prst="rect">
            <a:avLst/>
          </a:prstGeom>
          <a:noFill/>
        </p:spPr>
        <p:txBody>
          <a:bodyPr wrap="square" rtlCol="1">
            <a:spAutoFit/>
          </a:bodyPr>
          <a:lstStyle/>
          <a:p>
            <a:endParaRPr lang="he-IL"/>
          </a:p>
        </p:txBody>
      </p:sp>
      <p:sp>
        <p:nvSpPr>
          <p:cNvPr id="4" name="TextBox 3"/>
          <p:cNvSpPr txBox="1"/>
          <p:nvPr/>
        </p:nvSpPr>
        <p:spPr>
          <a:xfrm>
            <a:off x="414068" y="120964"/>
            <a:ext cx="4839419" cy="646331"/>
          </a:xfrm>
          <a:prstGeom prst="rect">
            <a:avLst/>
          </a:prstGeom>
          <a:noFill/>
        </p:spPr>
        <p:txBody>
          <a:bodyPr wrap="square" rtlCol="0">
            <a:spAutoFit/>
          </a:bodyPr>
          <a:lstStyle/>
          <a:p>
            <a:pPr algn="l" rtl="0"/>
            <a:r>
              <a:rPr lang="en-US" sz="3600" dirty="0" smtClean="0"/>
              <a:t>ASP.NET CORE</a:t>
            </a:r>
            <a:endParaRPr lang="en-US" sz="3600" dirty="0"/>
          </a:p>
        </p:txBody>
      </p:sp>
      <p:sp>
        <p:nvSpPr>
          <p:cNvPr id="5" name="Rectangle 4"/>
          <p:cNvSpPr/>
          <p:nvPr/>
        </p:nvSpPr>
        <p:spPr>
          <a:xfrm>
            <a:off x="293298" y="1078302"/>
            <a:ext cx="8151962" cy="646331"/>
          </a:xfrm>
          <a:prstGeom prst="rect">
            <a:avLst/>
          </a:prstGeom>
        </p:spPr>
        <p:txBody>
          <a:bodyPr wrap="square">
            <a:spAutoFit/>
          </a:bodyPr>
          <a:lstStyle/>
          <a:p>
            <a:pPr algn="l" rtl="0"/>
            <a:r>
              <a:rPr lang="en-US" dirty="0"/>
              <a:t>ASP.NET Core is a cross-platform, </a:t>
            </a:r>
            <a:r>
              <a:rPr lang="en-US" b="1" dirty="0"/>
              <a:t>high-performance, open-source </a:t>
            </a:r>
            <a:r>
              <a:rPr lang="en-US" dirty="0"/>
              <a:t>framework for building modern, </a:t>
            </a:r>
            <a:r>
              <a:rPr lang="en-US" b="1" dirty="0"/>
              <a:t>cloud-based,</a:t>
            </a:r>
            <a:r>
              <a:rPr lang="en-US" dirty="0"/>
              <a:t> Internet-connected applications</a:t>
            </a:r>
          </a:p>
        </p:txBody>
      </p:sp>
      <p:sp>
        <p:nvSpPr>
          <p:cNvPr id="7" name="Rectangle 6"/>
          <p:cNvSpPr/>
          <p:nvPr/>
        </p:nvSpPr>
        <p:spPr>
          <a:xfrm>
            <a:off x="414068" y="2052243"/>
            <a:ext cx="4572000" cy="2893100"/>
          </a:xfrm>
          <a:prstGeom prst="rect">
            <a:avLst/>
          </a:prstGeom>
        </p:spPr>
        <p:txBody>
          <a:bodyPr>
            <a:spAutoFit/>
          </a:bodyPr>
          <a:lstStyle/>
          <a:p>
            <a:pPr marL="285750" indent="-285750" algn="l" rtl="0">
              <a:buFont typeface="Arial" panose="020B0604020202020204" pitchFamily="34" charset="0"/>
              <a:buChar char="•"/>
            </a:pPr>
            <a:r>
              <a:rPr lang="en-US" sz="1400" dirty="0"/>
              <a:t>A unified story for building web UI and web APIs.</a:t>
            </a:r>
          </a:p>
          <a:p>
            <a:pPr marL="285750" indent="-285750" algn="l" rtl="0">
              <a:buFont typeface="Arial" panose="020B0604020202020204" pitchFamily="34" charset="0"/>
              <a:buChar char="•"/>
            </a:pPr>
            <a:r>
              <a:rPr lang="en-US" sz="1400" dirty="0"/>
              <a:t>Architected for testability.</a:t>
            </a:r>
          </a:p>
          <a:p>
            <a:pPr marL="285750" indent="-285750" algn="l" rtl="0">
              <a:buFont typeface="Arial" panose="020B0604020202020204" pitchFamily="34" charset="0"/>
              <a:buChar char="•"/>
            </a:pPr>
            <a:r>
              <a:rPr lang="en-US" sz="1400" dirty="0"/>
              <a:t>Razor Pages makes coding page-focused scenarios easier and more productive</a:t>
            </a:r>
            <a:r>
              <a:rPr lang="en-US" sz="1400" dirty="0" smtClean="0"/>
              <a:t>.</a:t>
            </a:r>
            <a:endParaRPr lang="en-US" sz="1400" dirty="0"/>
          </a:p>
          <a:p>
            <a:pPr marL="285750" indent="-285750" algn="l" rtl="0">
              <a:buFont typeface="Arial" panose="020B0604020202020204" pitchFamily="34" charset="0"/>
              <a:buChar char="•"/>
            </a:pPr>
            <a:r>
              <a:rPr lang="en-US" sz="1400" dirty="0"/>
              <a:t>Ability to develop and run on Windows, </a:t>
            </a:r>
            <a:r>
              <a:rPr lang="en-US" sz="1400" dirty="0" err="1"/>
              <a:t>macOS</a:t>
            </a:r>
            <a:r>
              <a:rPr lang="en-US" sz="1400" dirty="0"/>
              <a:t>, and Linux.</a:t>
            </a:r>
          </a:p>
          <a:p>
            <a:pPr marL="285750" indent="-285750" algn="l" rtl="0">
              <a:buFont typeface="Arial" panose="020B0604020202020204" pitchFamily="34" charset="0"/>
              <a:buChar char="•"/>
            </a:pPr>
            <a:r>
              <a:rPr lang="en-US" sz="1400" dirty="0"/>
              <a:t>Open-source and community-focused.</a:t>
            </a:r>
          </a:p>
          <a:p>
            <a:pPr marL="285750" indent="-285750" algn="l" rtl="0">
              <a:buFont typeface="Arial" panose="020B0604020202020204" pitchFamily="34" charset="0"/>
              <a:buChar char="•"/>
            </a:pPr>
            <a:r>
              <a:rPr lang="en-US" sz="1400" dirty="0"/>
              <a:t>Integration of modern, client-side frameworks and development workflows</a:t>
            </a:r>
            <a:r>
              <a:rPr lang="en-US" sz="1400" dirty="0" smtClean="0"/>
              <a:t>..</a:t>
            </a:r>
            <a:endParaRPr lang="en-US" sz="1400" dirty="0"/>
          </a:p>
          <a:p>
            <a:pPr marL="285750" indent="-285750" algn="l" rtl="0">
              <a:buFont typeface="Arial" panose="020B0604020202020204" pitchFamily="34" charset="0"/>
              <a:buChar char="•"/>
            </a:pPr>
            <a:r>
              <a:rPr lang="en-US" sz="1400" dirty="0"/>
              <a:t>A cloud-ready, environment-based configuration system.</a:t>
            </a:r>
          </a:p>
          <a:p>
            <a:pPr marL="285750" indent="-285750" algn="l" rtl="0">
              <a:buFont typeface="Arial" panose="020B0604020202020204" pitchFamily="34" charset="0"/>
              <a:buChar char="•"/>
            </a:pPr>
            <a:r>
              <a:rPr lang="en-US" sz="1400" dirty="0"/>
              <a:t>Built-in dependency injection.</a:t>
            </a:r>
          </a:p>
          <a:p>
            <a:pPr marL="285750" indent="-285750" algn="l" rtl="0">
              <a:buFont typeface="Arial" panose="020B0604020202020204" pitchFamily="34" charset="0"/>
              <a:buChar char="•"/>
            </a:pPr>
            <a:r>
              <a:rPr lang="en-US" sz="1400" dirty="0"/>
              <a:t>A lightweight, high-performance, and modular HTTP request pipeline</a:t>
            </a:r>
            <a:r>
              <a:rPr lang="en-US" sz="1400" dirty="0" smtClean="0"/>
              <a:t>.</a:t>
            </a:r>
            <a:endParaRPr lang="en-US" sz="1400" dirty="0"/>
          </a:p>
        </p:txBody>
      </p:sp>
      <p:pic>
        <p:nvPicPr>
          <p:cNvPr id="1028" name="Picture 4" descr="Image result for microsoft love github&quo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59242" y="4399570"/>
            <a:ext cx="3542304" cy="18632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microsoft love linux .net core&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7555" y="2052243"/>
            <a:ext cx="2777705" cy="1684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4373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1753" y="112945"/>
            <a:ext cx="5829160" cy="646331"/>
          </a:xfrm>
          <a:prstGeom prst="rect">
            <a:avLst/>
          </a:prstGeom>
          <a:noFill/>
        </p:spPr>
        <p:txBody>
          <a:bodyPr wrap="square" rtlCol="0">
            <a:spAutoFit/>
          </a:bodyPr>
          <a:lstStyle/>
          <a:p>
            <a:pPr algn="l" rtl="0"/>
            <a:r>
              <a:rPr lang="en-US" sz="3600" dirty="0"/>
              <a:t>NET Core is the Future of .NET</a:t>
            </a:r>
          </a:p>
        </p:txBody>
      </p:sp>
      <p:pic>
        <p:nvPicPr>
          <p:cNvPr id="2050" name="Picture 2" descr="https://devblogs.microsoft.com/dotnet/wp-content/uploads/sites/10/2019/05/dotnet5_platfor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53" y="1342291"/>
            <a:ext cx="8834316" cy="470810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69025" y="1044598"/>
            <a:ext cx="2964273" cy="369332"/>
          </a:xfrm>
          <a:prstGeom prst="rect">
            <a:avLst/>
          </a:prstGeom>
        </p:spPr>
        <p:txBody>
          <a:bodyPr wrap="none">
            <a:spAutoFit/>
          </a:bodyPr>
          <a:lstStyle/>
          <a:p>
            <a:pPr algn="l"/>
            <a:r>
              <a:rPr lang="nl-NL" b="1" dirty="0">
                <a:solidFill>
                  <a:srgbClr val="333333"/>
                </a:solidFill>
                <a:latin typeface="Segoe UI" panose="020B0502040204020203" pitchFamily="34" charset="0"/>
              </a:rPr>
              <a:t>.NET 5 = .NET Core vNext</a:t>
            </a:r>
            <a:endParaRPr lang="nl-NL" b="1" i="0" dirty="0">
              <a:solidFill>
                <a:srgbClr val="333333"/>
              </a:solidFill>
              <a:effectLst/>
              <a:latin typeface="Segoe UI" panose="020B0502040204020203" pitchFamily="34" charset="0"/>
            </a:endParaRPr>
          </a:p>
        </p:txBody>
      </p:sp>
    </p:spTree>
    <p:extLst>
      <p:ext uri="{BB962C8B-B14F-4D97-AF65-F5344CB8AC3E}">
        <p14:creationId xmlns:p14="http://schemas.microsoft.com/office/powerpoint/2010/main" val="3047882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devblogs.microsoft.com/dotnet/wp-content/uploads/sites/10/2019/05/dotnet_schedu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37" y="1345354"/>
            <a:ext cx="7972669" cy="44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354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8793" y="241540"/>
            <a:ext cx="4666890" cy="523220"/>
          </a:xfrm>
          <a:prstGeom prst="rect">
            <a:avLst/>
          </a:prstGeom>
          <a:noFill/>
        </p:spPr>
        <p:txBody>
          <a:bodyPr wrap="square" rtlCol="0">
            <a:spAutoFit/>
          </a:bodyPr>
          <a:lstStyle/>
          <a:p>
            <a:pPr algn="l" rtl="0"/>
            <a:r>
              <a:rPr lang="en-US" sz="2800" dirty="0" err="1" smtClean="0"/>
              <a:t>dotnet</a:t>
            </a:r>
            <a:r>
              <a:rPr lang="en-US" sz="2800" dirty="0" smtClean="0"/>
              <a:t> CLI</a:t>
            </a:r>
            <a:endParaRPr lang="en-US" sz="2800" dirty="0"/>
          </a:p>
        </p:txBody>
      </p:sp>
      <p:pic>
        <p:nvPicPr>
          <p:cNvPr id="4098" name="Picture 2" descr="Image result for dotnet cli&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95" y="1056796"/>
            <a:ext cx="5149669" cy="21242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492006" y="4270986"/>
            <a:ext cx="6736930" cy="2227453"/>
          </a:xfrm>
          <a:prstGeom prst="rect">
            <a:avLst/>
          </a:prstGeom>
        </p:spPr>
      </p:pic>
      <p:pic>
        <p:nvPicPr>
          <p:cNvPr id="6" name="Picture 5"/>
          <p:cNvPicPr>
            <a:picLocks noChangeAspect="1"/>
          </p:cNvPicPr>
          <p:nvPr/>
        </p:nvPicPr>
        <p:blipFill>
          <a:blip r:embed="rId4"/>
          <a:stretch>
            <a:fillRect/>
          </a:stretch>
        </p:blipFill>
        <p:spPr>
          <a:xfrm>
            <a:off x="422995" y="3378589"/>
            <a:ext cx="7086600" cy="428625"/>
          </a:xfrm>
          <a:prstGeom prst="rect">
            <a:avLst/>
          </a:prstGeom>
        </p:spPr>
      </p:pic>
    </p:spTree>
    <p:extLst>
      <p:ext uri="{BB962C8B-B14F-4D97-AF65-F5344CB8AC3E}">
        <p14:creationId xmlns:p14="http://schemas.microsoft.com/office/powerpoint/2010/main" val="3716821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8793" y="241540"/>
            <a:ext cx="4666890" cy="523220"/>
          </a:xfrm>
          <a:prstGeom prst="rect">
            <a:avLst/>
          </a:prstGeom>
          <a:noFill/>
        </p:spPr>
        <p:txBody>
          <a:bodyPr wrap="square" rtlCol="0">
            <a:spAutoFit/>
          </a:bodyPr>
          <a:lstStyle/>
          <a:p>
            <a:pPr algn="l" rtl="0"/>
            <a:r>
              <a:rPr lang="en-US" sz="2800" dirty="0" smtClean="0"/>
              <a:t>.</a:t>
            </a:r>
            <a:r>
              <a:rPr lang="en-US" sz="2800" dirty="0" err="1" smtClean="0"/>
              <a:t>ner</a:t>
            </a:r>
            <a:r>
              <a:rPr lang="en-US" sz="2800" dirty="0" smtClean="0"/>
              <a:t> core configuration</a:t>
            </a:r>
            <a:endParaRPr lang="en-US" sz="2800" dirty="0"/>
          </a:p>
        </p:txBody>
      </p:sp>
      <p:sp>
        <p:nvSpPr>
          <p:cNvPr id="3" name="Rectangle 2"/>
          <p:cNvSpPr/>
          <p:nvPr/>
        </p:nvSpPr>
        <p:spPr>
          <a:xfrm>
            <a:off x="353682" y="1216173"/>
            <a:ext cx="6426679" cy="646331"/>
          </a:xfrm>
          <a:prstGeom prst="rect">
            <a:avLst/>
          </a:prstGeom>
        </p:spPr>
        <p:txBody>
          <a:bodyPr wrap="square">
            <a:spAutoFit/>
          </a:bodyPr>
          <a:lstStyle/>
          <a:p>
            <a:pPr algn="l" rtl="0"/>
            <a:r>
              <a:rPr lang="en-US" dirty="0">
                <a:solidFill>
                  <a:srgbClr val="171717"/>
                </a:solidFill>
                <a:latin typeface="Segoe UI" panose="020B0502040204020203" pitchFamily="34" charset="0"/>
              </a:rPr>
              <a:t>App configuration in ASP.NET Core is based on key-value pairs established by </a:t>
            </a:r>
            <a:r>
              <a:rPr lang="en-US" i="1" dirty="0">
                <a:solidFill>
                  <a:srgbClr val="171717"/>
                </a:solidFill>
                <a:latin typeface="Segoe UI" panose="020B0502040204020203" pitchFamily="34" charset="0"/>
              </a:rPr>
              <a:t>configuration providers</a:t>
            </a:r>
            <a:endParaRPr lang="en-US" dirty="0"/>
          </a:p>
        </p:txBody>
      </p:sp>
      <p:sp>
        <p:nvSpPr>
          <p:cNvPr id="4" name="TextBox 3"/>
          <p:cNvSpPr txBox="1"/>
          <p:nvPr/>
        </p:nvSpPr>
        <p:spPr>
          <a:xfrm>
            <a:off x="353683" y="2018581"/>
            <a:ext cx="6021238" cy="2862322"/>
          </a:xfrm>
          <a:prstGeom prst="rect">
            <a:avLst/>
          </a:prstGeom>
          <a:noFill/>
        </p:spPr>
        <p:txBody>
          <a:bodyPr wrap="square" rtlCol="0">
            <a:spAutoFit/>
          </a:bodyPr>
          <a:lstStyle/>
          <a:p>
            <a:pPr algn="l" rtl="0"/>
            <a:r>
              <a:rPr lang="en-US" b="1" dirty="0" smtClean="0"/>
              <a:t>Providers:</a:t>
            </a:r>
          </a:p>
          <a:p>
            <a:pPr marL="285750" indent="-285750" algn="l" rtl="0">
              <a:buFont typeface="Arial" panose="020B0604020202020204" pitchFamily="34" charset="0"/>
              <a:buChar char="•"/>
            </a:pPr>
            <a:r>
              <a:rPr lang="en-US" dirty="0"/>
              <a:t>Azure Key Vault</a:t>
            </a:r>
          </a:p>
          <a:p>
            <a:pPr marL="285750" indent="-285750" algn="l" rtl="0">
              <a:buFont typeface="Arial" panose="020B0604020202020204" pitchFamily="34" charset="0"/>
              <a:buChar char="•"/>
            </a:pPr>
            <a:r>
              <a:rPr lang="en-US" dirty="0"/>
              <a:t>Azure App Configuration</a:t>
            </a:r>
          </a:p>
          <a:p>
            <a:pPr marL="285750" indent="-285750" algn="l" rtl="0">
              <a:buFont typeface="Arial" panose="020B0604020202020204" pitchFamily="34" charset="0"/>
              <a:buChar char="•"/>
            </a:pPr>
            <a:r>
              <a:rPr lang="en-US" dirty="0"/>
              <a:t>Command-line arguments</a:t>
            </a:r>
          </a:p>
          <a:p>
            <a:pPr marL="285750" indent="-285750" algn="l" rtl="0">
              <a:buFont typeface="Arial" panose="020B0604020202020204" pitchFamily="34" charset="0"/>
              <a:buChar char="•"/>
            </a:pPr>
            <a:r>
              <a:rPr lang="en-US" dirty="0"/>
              <a:t>Custom providers (installed or created)</a:t>
            </a:r>
          </a:p>
          <a:p>
            <a:pPr marL="285750" indent="-285750" algn="l" rtl="0">
              <a:buFont typeface="Arial" panose="020B0604020202020204" pitchFamily="34" charset="0"/>
              <a:buChar char="•"/>
            </a:pPr>
            <a:r>
              <a:rPr lang="en-US" dirty="0"/>
              <a:t>Directory files</a:t>
            </a:r>
          </a:p>
          <a:p>
            <a:pPr marL="285750" indent="-285750" algn="l" rtl="0">
              <a:buFont typeface="Arial" panose="020B0604020202020204" pitchFamily="34" charset="0"/>
              <a:buChar char="•"/>
            </a:pPr>
            <a:r>
              <a:rPr lang="en-US" dirty="0"/>
              <a:t>Environment variables</a:t>
            </a:r>
          </a:p>
          <a:p>
            <a:pPr marL="285750" indent="-285750" algn="l" rtl="0">
              <a:buFont typeface="Arial" panose="020B0604020202020204" pitchFamily="34" charset="0"/>
              <a:buChar char="•"/>
            </a:pPr>
            <a:r>
              <a:rPr lang="en-US" dirty="0"/>
              <a:t>In-memory .NET objects</a:t>
            </a:r>
          </a:p>
          <a:p>
            <a:pPr marL="285750" indent="-285750" algn="l" rtl="0">
              <a:buFont typeface="Arial" panose="020B0604020202020204" pitchFamily="34" charset="0"/>
              <a:buChar char="•"/>
            </a:pPr>
            <a:r>
              <a:rPr lang="en-US" dirty="0"/>
              <a:t>Settings files</a:t>
            </a:r>
          </a:p>
          <a:p>
            <a:pPr algn="l" rtl="0"/>
            <a:endParaRPr lang="en-US" dirty="0"/>
          </a:p>
        </p:txBody>
      </p:sp>
      <p:pic>
        <p:nvPicPr>
          <p:cNvPr id="5122" name="Picture 2" descr="Image result for .net core configuration IConfiguration injection&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4302" y="4761750"/>
            <a:ext cx="4762500" cy="1371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000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4289" y="224286"/>
            <a:ext cx="4278700" cy="523220"/>
          </a:xfrm>
          <a:prstGeom prst="rect">
            <a:avLst/>
          </a:prstGeom>
          <a:noFill/>
        </p:spPr>
        <p:txBody>
          <a:bodyPr wrap="square" rtlCol="0">
            <a:spAutoFit/>
          </a:bodyPr>
          <a:lstStyle>
            <a:defPPr>
              <a:defRPr lang="he-IL"/>
            </a:defPPr>
            <a:lvl1pPr algn="l" rtl="0">
              <a:defRPr sz="2800"/>
            </a:lvl1pPr>
          </a:lstStyle>
          <a:p>
            <a:r>
              <a:rPr lang="en-US" dirty="0"/>
              <a:t>Dependency injection</a:t>
            </a:r>
          </a:p>
        </p:txBody>
      </p:sp>
      <p:sp>
        <p:nvSpPr>
          <p:cNvPr id="4" name="Rectangle 3"/>
          <p:cNvSpPr/>
          <p:nvPr/>
        </p:nvSpPr>
        <p:spPr>
          <a:xfrm>
            <a:off x="327804" y="1155311"/>
            <a:ext cx="7530860" cy="923330"/>
          </a:xfrm>
          <a:prstGeom prst="rect">
            <a:avLst/>
          </a:prstGeom>
        </p:spPr>
        <p:txBody>
          <a:bodyPr wrap="square">
            <a:spAutoFit/>
          </a:bodyPr>
          <a:lstStyle/>
          <a:p>
            <a:pPr algn="l" rtl="0"/>
            <a:r>
              <a:rPr lang="en-US" dirty="0"/>
              <a:t>ASP.NET Core supports the dependency injection (DI) software design pattern, which is a technique for achieving Inversion of Control (</a:t>
            </a:r>
            <a:r>
              <a:rPr lang="en-US" dirty="0" err="1"/>
              <a:t>IoC</a:t>
            </a:r>
            <a:r>
              <a:rPr lang="en-US" dirty="0"/>
              <a:t>) between classes and their dependencies.</a:t>
            </a:r>
          </a:p>
        </p:txBody>
      </p:sp>
      <p:pic>
        <p:nvPicPr>
          <p:cNvPr id="5" name="Picture 4"/>
          <p:cNvPicPr>
            <a:picLocks noChangeAspect="1"/>
          </p:cNvPicPr>
          <p:nvPr/>
        </p:nvPicPr>
        <p:blipFill>
          <a:blip r:embed="rId2"/>
          <a:stretch>
            <a:fillRect/>
          </a:stretch>
        </p:blipFill>
        <p:spPr>
          <a:xfrm>
            <a:off x="483259" y="3799126"/>
            <a:ext cx="7515225" cy="857250"/>
          </a:xfrm>
          <a:prstGeom prst="rect">
            <a:avLst/>
          </a:prstGeom>
        </p:spPr>
      </p:pic>
      <p:pic>
        <p:nvPicPr>
          <p:cNvPr id="6" name="Picture 5"/>
          <p:cNvPicPr>
            <a:picLocks noChangeAspect="1"/>
          </p:cNvPicPr>
          <p:nvPr/>
        </p:nvPicPr>
        <p:blipFill>
          <a:blip r:embed="rId3"/>
          <a:stretch>
            <a:fillRect/>
          </a:stretch>
        </p:blipFill>
        <p:spPr>
          <a:xfrm>
            <a:off x="483259" y="2486446"/>
            <a:ext cx="7219950" cy="904875"/>
          </a:xfrm>
          <a:prstGeom prst="rect">
            <a:avLst/>
          </a:prstGeom>
        </p:spPr>
      </p:pic>
    </p:spTree>
    <p:extLst>
      <p:ext uri="{BB962C8B-B14F-4D97-AF65-F5344CB8AC3E}">
        <p14:creationId xmlns:p14="http://schemas.microsoft.com/office/powerpoint/2010/main" val="3947578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289" y="224286"/>
            <a:ext cx="4278700" cy="523220"/>
          </a:xfrm>
          <a:prstGeom prst="rect">
            <a:avLst/>
          </a:prstGeom>
          <a:noFill/>
        </p:spPr>
        <p:txBody>
          <a:bodyPr wrap="square" rtlCol="0">
            <a:spAutoFit/>
          </a:bodyPr>
          <a:lstStyle>
            <a:defPPr>
              <a:defRPr lang="he-IL"/>
            </a:defPPr>
            <a:lvl1pPr algn="l" rtl="0">
              <a:defRPr sz="2800"/>
            </a:lvl1pPr>
          </a:lstStyle>
          <a:p>
            <a:r>
              <a:rPr lang="en-US" dirty="0"/>
              <a:t>Dependency injection</a:t>
            </a:r>
          </a:p>
        </p:txBody>
      </p:sp>
      <p:sp>
        <p:nvSpPr>
          <p:cNvPr id="3" name="Rectangle 2"/>
          <p:cNvSpPr/>
          <p:nvPr/>
        </p:nvSpPr>
        <p:spPr>
          <a:xfrm>
            <a:off x="474451" y="1257875"/>
            <a:ext cx="8402129" cy="923330"/>
          </a:xfrm>
          <a:prstGeom prst="rect">
            <a:avLst/>
          </a:prstGeom>
        </p:spPr>
        <p:txBody>
          <a:bodyPr wrap="square">
            <a:spAutoFit/>
          </a:bodyPr>
          <a:lstStyle/>
          <a:p>
            <a:pPr algn="l" rtl="0"/>
            <a:r>
              <a:rPr lang="en-US" b="1" dirty="0">
                <a:solidFill>
                  <a:srgbClr val="171717"/>
                </a:solidFill>
                <a:latin typeface="Segoe UI" panose="020B0502040204020203" pitchFamily="34" charset="0"/>
              </a:rPr>
              <a:t>Transient</a:t>
            </a:r>
          </a:p>
          <a:p>
            <a:pPr algn="l" rtl="0"/>
            <a:r>
              <a:rPr lang="en-US" dirty="0">
                <a:solidFill>
                  <a:srgbClr val="171717"/>
                </a:solidFill>
                <a:latin typeface="Segoe UI" panose="020B0502040204020203" pitchFamily="34" charset="0"/>
              </a:rPr>
              <a:t>Transient lifetime services </a:t>
            </a:r>
            <a:r>
              <a:rPr lang="en-US" dirty="0" smtClean="0">
                <a:solidFill>
                  <a:srgbClr val="171717"/>
                </a:solidFill>
                <a:latin typeface="Segoe UI" panose="020B0502040204020203" pitchFamily="34" charset="0"/>
              </a:rPr>
              <a:t>are </a:t>
            </a:r>
            <a:r>
              <a:rPr lang="en-US" dirty="0">
                <a:solidFill>
                  <a:srgbClr val="171717"/>
                </a:solidFill>
                <a:latin typeface="Segoe UI" panose="020B0502040204020203" pitchFamily="34" charset="0"/>
              </a:rPr>
              <a:t>created each time they're requested from the service container. This lifetime works best for lightweight, stateless services.</a:t>
            </a:r>
            <a:endParaRPr lang="en-US" b="0" i="0" dirty="0">
              <a:solidFill>
                <a:srgbClr val="171717"/>
              </a:solidFill>
              <a:effectLst/>
              <a:latin typeface="Segoe UI" panose="020B0502040204020203" pitchFamily="34" charset="0"/>
            </a:endParaRPr>
          </a:p>
        </p:txBody>
      </p:sp>
      <p:sp>
        <p:nvSpPr>
          <p:cNvPr id="4" name="Rectangle 3"/>
          <p:cNvSpPr/>
          <p:nvPr/>
        </p:nvSpPr>
        <p:spPr>
          <a:xfrm>
            <a:off x="474451" y="2828836"/>
            <a:ext cx="8220975" cy="646331"/>
          </a:xfrm>
          <a:prstGeom prst="rect">
            <a:avLst/>
          </a:prstGeom>
        </p:spPr>
        <p:txBody>
          <a:bodyPr wrap="square">
            <a:spAutoFit/>
          </a:bodyPr>
          <a:lstStyle/>
          <a:p>
            <a:pPr algn="l" rtl="0"/>
            <a:r>
              <a:rPr lang="en-US" b="1" dirty="0">
                <a:solidFill>
                  <a:srgbClr val="171717"/>
                </a:solidFill>
                <a:latin typeface="Segoe UI" panose="020B0502040204020203" pitchFamily="34" charset="0"/>
              </a:rPr>
              <a:t>Scoped</a:t>
            </a:r>
          </a:p>
          <a:p>
            <a:pPr algn="l" rtl="0"/>
            <a:r>
              <a:rPr lang="en-US" dirty="0">
                <a:solidFill>
                  <a:srgbClr val="171717"/>
                </a:solidFill>
                <a:latin typeface="Segoe UI" panose="020B0502040204020203" pitchFamily="34" charset="0"/>
              </a:rPr>
              <a:t>Scoped lifetime services </a:t>
            </a:r>
            <a:r>
              <a:rPr lang="en-US" dirty="0" smtClean="0">
                <a:solidFill>
                  <a:srgbClr val="171717"/>
                </a:solidFill>
                <a:latin typeface="Segoe UI" panose="020B0502040204020203" pitchFamily="34" charset="0"/>
              </a:rPr>
              <a:t>are </a:t>
            </a:r>
            <a:r>
              <a:rPr lang="en-US" dirty="0">
                <a:solidFill>
                  <a:srgbClr val="171717"/>
                </a:solidFill>
                <a:latin typeface="Segoe UI" panose="020B0502040204020203" pitchFamily="34" charset="0"/>
              </a:rPr>
              <a:t>created once per </a:t>
            </a:r>
            <a:r>
              <a:rPr lang="en-US" dirty="0" smtClean="0">
                <a:solidFill>
                  <a:srgbClr val="171717"/>
                </a:solidFill>
                <a:latin typeface="Segoe UI" panose="020B0502040204020203" pitchFamily="34" charset="0"/>
              </a:rPr>
              <a:t>http context.</a:t>
            </a:r>
            <a:endParaRPr lang="en-US" b="0" i="0" dirty="0">
              <a:solidFill>
                <a:srgbClr val="171717"/>
              </a:solidFill>
              <a:effectLst/>
              <a:latin typeface="Segoe UI" panose="020B0502040204020203" pitchFamily="34" charset="0"/>
            </a:endParaRPr>
          </a:p>
        </p:txBody>
      </p:sp>
      <p:sp>
        <p:nvSpPr>
          <p:cNvPr id="6" name="TextBox 5"/>
          <p:cNvSpPr txBox="1"/>
          <p:nvPr/>
        </p:nvSpPr>
        <p:spPr>
          <a:xfrm>
            <a:off x="474451" y="3899139"/>
            <a:ext cx="7306574" cy="1754326"/>
          </a:xfrm>
          <a:prstGeom prst="rect">
            <a:avLst/>
          </a:prstGeom>
          <a:noFill/>
        </p:spPr>
        <p:txBody>
          <a:bodyPr wrap="square" rtlCol="0">
            <a:spAutoFit/>
          </a:bodyPr>
          <a:lstStyle/>
          <a:p>
            <a:pPr lvl="0" algn="l" rtl="0" eaLnBrk="0" fontAlgn="base" hangingPunct="0">
              <a:spcBef>
                <a:spcPct val="0"/>
              </a:spcBef>
              <a:spcAft>
                <a:spcPct val="0"/>
              </a:spcAft>
            </a:pPr>
            <a:r>
              <a:rPr lang="en-US" altLang="en-US" b="1" dirty="0">
                <a:solidFill>
                  <a:srgbClr val="171717"/>
                </a:solidFill>
                <a:latin typeface="Segoe UI" panose="020B0502040204020203" pitchFamily="34" charset="0"/>
              </a:rPr>
              <a:t>Singleton</a:t>
            </a:r>
          </a:p>
          <a:p>
            <a:pPr lvl="0" algn="l" rtl="0" eaLnBrk="0" fontAlgn="base" hangingPunct="0">
              <a:spcBef>
                <a:spcPct val="0"/>
              </a:spcBef>
              <a:spcAft>
                <a:spcPct val="0"/>
              </a:spcAft>
            </a:pPr>
            <a:r>
              <a:rPr lang="en-US" altLang="en-US" dirty="0">
                <a:solidFill>
                  <a:srgbClr val="171717"/>
                </a:solidFill>
                <a:latin typeface="Segoe UI" panose="020B0502040204020203" pitchFamily="34" charset="0"/>
                <a:cs typeface="Segoe UI" panose="020B0502040204020203" pitchFamily="34" charset="0"/>
              </a:rPr>
              <a:t>Singleton lifetime services </a:t>
            </a:r>
            <a:r>
              <a:rPr lang="en-US" altLang="en-US" dirty="0" smtClean="0">
                <a:solidFill>
                  <a:srgbClr val="171717"/>
                </a:solidFill>
                <a:latin typeface="Segoe UI" panose="020B0502040204020203" pitchFamily="34" charset="0"/>
                <a:cs typeface="Segoe UI" panose="020B0502040204020203" pitchFamily="34" charset="0"/>
              </a:rPr>
              <a:t>are </a:t>
            </a:r>
            <a:r>
              <a:rPr lang="en-US" altLang="en-US" dirty="0">
                <a:solidFill>
                  <a:srgbClr val="171717"/>
                </a:solidFill>
                <a:latin typeface="Segoe UI" panose="020B0502040204020203" pitchFamily="34" charset="0"/>
                <a:cs typeface="Segoe UI" panose="020B0502040204020203" pitchFamily="34" charset="0"/>
              </a:rPr>
              <a:t>created the first time they're requested </a:t>
            </a:r>
            <a:r>
              <a:rPr lang="en-US" altLang="en-US" dirty="0" smtClean="0">
                <a:solidFill>
                  <a:srgbClr val="171717"/>
                </a:solidFill>
                <a:latin typeface="Segoe UI" panose="020B0502040204020203" pitchFamily="34" charset="0"/>
                <a:cs typeface="Segoe UI" panose="020B0502040204020203" pitchFamily="34" charset="0"/>
              </a:rPr>
              <a:t>Every </a:t>
            </a:r>
            <a:r>
              <a:rPr lang="en-US" altLang="en-US" dirty="0">
                <a:solidFill>
                  <a:srgbClr val="171717"/>
                </a:solidFill>
                <a:latin typeface="Segoe UI" panose="020B0502040204020203" pitchFamily="34" charset="0"/>
                <a:cs typeface="Segoe UI" panose="020B0502040204020203" pitchFamily="34" charset="0"/>
              </a:rPr>
              <a:t>subsequent request uses the same instance. </a:t>
            </a:r>
            <a:r>
              <a:rPr lang="en-US" altLang="en-US" dirty="0" smtClean="0">
                <a:solidFill>
                  <a:srgbClr val="171717"/>
                </a:solidFill>
                <a:latin typeface="Segoe UI" panose="020B0502040204020203" pitchFamily="34" charset="0"/>
                <a:cs typeface="Segoe UI" panose="020B0502040204020203" pitchFamily="34" charset="0"/>
              </a:rPr>
              <a:t>Don't </a:t>
            </a:r>
            <a:r>
              <a:rPr lang="en-US" altLang="en-US" dirty="0">
                <a:solidFill>
                  <a:srgbClr val="171717"/>
                </a:solidFill>
                <a:latin typeface="Segoe UI" panose="020B0502040204020203" pitchFamily="34" charset="0"/>
                <a:cs typeface="Segoe UI" panose="020B0502040204020203" pitchFamily="34" charset="0"/>
              </a:rPr>
              <a:t>implement the singleton design pattern and provide user code to manage the object's lifetime in the class.</a:t>
            </a:r>
            <a:endParaRPr lang="en-US" altLang="en-US" sz="2800" dirty="0">
              <a:latin typeface="Arial" panose="020B0604020202020204" pitchFamily="34" charset="0"/>
            </a:endParaRPr>
          </a:p>
          <a:p>
            <a:endParaRPr lang="en-US" dirty="0"/>
          </a:p>
        </p:txBody>
      </p:sp>
      <p:sp>
        <p:nvSpPr>
          <p:cNvPr id="7" name="Rectangle 2"/>
          <p:cNvSpPr>
            <a:spLocks noChangeArrowheads="1"/>
          </p:cNvSpPr>
          <p:nvPr/>
        </p:nvSpPr>
        <p:spPr bwMode="auto">
          <a:xfrm>
            <a:off x="0" y="96510"/>
            <a:ext cx="0" cy="2641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761" tIns="-6348" rIns="-4761" bIns="-6348"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algn="l" rtl="0" eaLnBrk="0" fontAlgn="base" hangingPunct="0">
              <a:spcBef>
                <a:spcPct val="0"/>
              </a:spcBef>
              <a:spcAft>
                <a:spcPct val="0"/>
              </a:spcAft>
              <a:defRPr>
                <a:solidFill>
                  <a:schemeClr val="tx1"/>
                </a:solidFill>
                <a:latin typeface="Arial" panose="020B0604020202020204" pitchFamily="34" charset="0"/>
              </a:defRPr>
            </a:lvl2pPr>
            <a:lvl3pPr algn="l" rtl="0" eaLnBrk="0" fontAlgn="base" hangingPunct="0">
              <a:spcBef>
                <a:spcPct val="0"/>
              </a:spcBef>
              <a:spcAft>
                <a:spcPct val="0"/>
              </a:spcAft>
              <a:defRPr>
                <a:solidFill>
                  <a:schemeClr val="tx1"/>
                </a:solidFill>
                <a:latin typeface="Arial" panose="020B0604020202020204" pitchFamily="34" charset="0"/>
              </a:defRPr>
            </a:lvl3pPr>
            <a:lvl4pPr algn="l" rtl="0" eaLnBrk="0" fontAlgn="base" hangingPunct="0">
              <a:spcBef>
                <a:spcPct val="0"/>
              </a:spcBef>
              <a:spcAft>
                <a:spcPct val="0"/>
              </a:spcAft>
              <a:defRPr>
                <a:solidFill>
                  <a:schemeClr val="tx1"/>
                </a:solidFill>
                <a:latin typeface="Arial" panose="020B0604020202020204" pitchFamily="34" charset="0"/>
              </a:defRPr>
            </a:lvl4pPr>
            <a:lvl5pPr algn="l" rtl="0" eaLnBrk="0" fontAlgn="base" hangingPunct="0">
              <a:spcBef>
                <a:spcPct val="0"/>
              </a:spcBef>
              <a:spcAft>
                <a:spcPct val="0"/>
              </a:spcAft>
              <a:defRPr>
                <a:solidFill>
                  <a:schemeClr val="tx1"/>
                </a:solidFill>
                <a:latin typeface="Arial" panose="020B0604020202020204" pitchFamily="34" charset="0"/>
              </a:defRPr>
            </a:lvl5pPr>
            <a:lvl6pPr algn="l" rtl="0" eaLnBrk="0" fontAlgn="base" hangingPunct="0">
              <a:spcBef>
                <a:spcPct val="0"/>
              </a:spcBef>
              <a:spcAft>
                <a:spcPct val="0"/>
              </a:spcAft>
              <a:defRPr>
                <a:solidFill>
                  <a:schemeClr val="tx1"/>
                </a:solidFill>
                <a:latin typeface="Arial" panose="020B0604020202020204" pitchFamily="34" charset="0"/>
              </a:defRPr>
            </a:lvl6pPr>
            <a:lvl7pPr algn="l" rtl="0" eaLnBrk="0" fontAlgn="base" hangingPunct="0">
              <a:spcBef>
                <a:spcPct val="0"/>
              </a:spcBef>
              <a:spcAft>
                <a:spcPct val="0"/>
              </a:spcAft>
              <a:defRPr>
                <a:solidFill>
                  <a:schemeClr val="tx1"/>
                </a:solidFill>
                <a:latin typeface="Arial" panose="020B0604020202020204" pitchFamily="34" charset="0"/>
              </a:defRPr>
            </a:lvl7pPr>
            <a:lvl8pPr algn="l" rtl="0" eaLnBrk="0" fontAlgn="base" hangingPunct="0">
              <a:spcBef>
                <a:spcPct val="0"/>
              </a:spcBef>
              <a:spcAft>
                <a:spcPct val="0"/>
              </a:spcAft>
              <a:defRPr>
                <a:solidFill>
                  <a:schemeClr val="tx1"/>
                </a:solidFill>
                <a:latin typeface="Arial" panose="020B0604020202020204" pitchFamily="34" charset="0"/>
              </a:defRPr>
            </a:lvl8pPr>
            <a:lvl9pPr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8942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7649" y="17252"/>
            <a:ext cx="3680559" cy="1446550"/>
          </a:xfrm>
          <a:prstGeom prst="rect">
            <a:avLst/>
          </a:prstGeom>
        </p:spPr>
        <p:txBody>
          <a:bodyPr wrap="none">
            <a:spAutoFit/>
          </a:bodyPr>
          <a:lstStyle/>
          <a:p>
            <a:pPr algn="l" rtl="0"/>
            <a:r>
              <a:rPr lang="en-US" sz="4400" spc="-150" dirty="0" err="1" smtClean="0">
                <a:cs typeface="OronMF" pitchFamily="2" charset="-79"/>
              </a:rPr>
              <a:t>.net</a:t>
            </a:r>
            <a:r>
              <a:rPr lang="en-US" sz="4400" spc="-150" dirty="0" smtClean="0">
                <a:cs typeface="OronMF" pitchFamily="2" charset="-79"/>
              </a:rPr>
              <a:t> core logging</a:t>
            </a:r>
          </a:p>
          <a:p>
            <a:pPr algn="l" rtl="0"/>
            <a:endParaRPr lang="en-US" sz="4400" spc="-150" dirty="0">
              <a:cs typeface="OronMF" pitchFamily="2" charset="-79"/>
            </a:endParaRPr>
          </a:p>
        </p:txBody>
      </p:sp>
      <p:sp>
        <p:nvSpPr>
          <p:cNvPr id="3" name="Rectangle 2"/>
          <p:cNvSpPr/>
          <p:nvPr/>
        </p:nvSpPr>
        <p:spPr>
          <a:xfrm>
            <a:off x="517584" y="1250678"/>
            <a:ext cx="6202392" cy="646331"/>
          </a:xfrm>
          <a:prstGeom prst="rect">
            <a:avLst/>
          </a:prstGeom>
        </p:spPr>
        <p:txBody>
          <a:bodyPr wrap="square">
            <a:spAutoFit/>
          </a:bodyPr>
          <a:lstStyle/>
          <a:p>
            <a:pPr algn="l" rtl="0"/>
            <a:r>
              <a:rPr lang="en-US" dirty="0">
                <a:solidFill>
                  <a:srgbClr val="171717"/>
                </a:solidFill>
                <a:latin typeface="Segoe UI" panose="020B0502040204020203" pitchFamily="34" charset="0"/>
              </a:rPr>
              <a:t>.NET Core supports a logging API that works with a variety of built-in and third-party logging providers</a:t>
            </a:r>
            <a:endParaRPr lang="en-US" dirty="0"/>
          </a:p>
        </p:txBody>
      </p:sp>
      <p:sp>
        <p:nvSpPr>
          <p:cNvPr id="4" name="Rectangle 3"/>
          <p:cNvSpPr/>
          <p:nvPr/>
        </p:nvSpPr>
        <p:spPr>
          <a:xfrm>
            <a:off x="517584" y="2140153"/>
            <a:ext cx="4501682" cy="2308324"/>
          </a:xfrm>
          <a:prstGeom prst="rect">
            <a:avLst/>
          </a:prstGeom>
        </p:spPr>
        <p:txBody>
          <a:bodyPr wrap="none">
            <a:spAutoFit/>
          </a:bodyPr>
          <a:lstStyle/>
          <a:p>
            <a:pPr algn="l" rtl="0"/>
            <a:r>
              <a:rPr lang="en-US" dirty="0">
                <a:solidFill>
                  <a:srgbClr val="171717"/>
                </a:solidFill>
                <a:latin typeface="Segoe UI" panose="020B0502040204020203" pitchFamily="34" charset="0"/>
              </a:rPr>
              <a:t> </a:t>
            </a:r>
            <a:r>
              <a:rPr lang="en-US" b="1" dirty="0" smtClean="0">
                <a:solidFill>
                  <a:srgbClr val="171717"/>
                </a:solidFill>
                <a:latin typeface="Segoe UI" panose="020B0502040204020203" pitchFamily="34" charset="0"/>
              </a:rPr>
              <a:t>Default </a:t>
            </a:r>
            <a:r>
              <a:rPr lang="en-US" b="1" dirty="0">
                <a:solidFill>
                  <a:srgbClr val="171717"/>
                </a:solidFill>
                <a:latin typeface="Segoe UI" panose="020B0502040204020203" pitchFamily="34" charset="0"/>
              </a:rPr>
              <a:t>ASP.NET Core </a:t>
            </a:r>
            <a:r>
              <a:rPr lang="en-US" b="1" dirty="0" smtClean="0">
                <a:solidFill>
                  <a:srgbClr val="171717"/>
                </a:solidFill>
                <a:latin typeface="Segoe UI" panose="020B0502040204020203" pitchFamily="34" charset="0"/>
              </a:rPr>
              <a:t>providers</a:t>
            </a:r>
            <a:r>
              <a:rPr lang="en-US" dirty="0" smtClean="0">
                <a:solidFill>
                  <a:srgbClr val="171717"/>
                </a:solidFill>
                <a:latin typeface="Segoe UI" panose="020B0502040204020203" pitchFamily="34" charset="0"/>
              </a:rPr>
              <a:t>:</a:t>
            </a:r>
          </a:p>
          <a:p>
            <a:pPr marL="285750" indent="-285750" algn="l" rtl="0">
              <a:buFont typeface="Arial" panose="020B0604020202020204" pitchFamily="34" charset="0"/>
              <a:buChar char="•"/>
            </a:pPr>
            <a:r>
              <a:rPr lang="en-US" dirty="0"/>
              <a:t>Console</a:t>
            </a:r>
          </a:p>
          <a:p>
            <a:pPr marL="285750" indent="-285750" algn="l" rtl="0">
              <a:buFont typeface="Arial" panose="020B0604020202020204" pitchFamily="34" charset="0"/>
              <a:buChar char="•"/>
            </a:pPr>
            <a:r>
              <a:rPr lang="en-US" dirty="0"/>
              <a:t>Debug</a:t>
            </a:r>
          </a:p>
          <a:p>
            <a:pPr marL="285750" indent="-285750" algn="l" rtl="0">
              <a:buFont typeface="Arial" panose="020B0604020202020204" pitchFamily="34" charset="0"/>
              <a:buChar char="•"/>
            </a:pPr>
            <a:r>
              <a:rPr lang="en-US" dirty="0" err="1"/>
              <a:t>EventSource</a:t>
            </a:r>
            <a:endParaRPr lang="en-US" dirty="0"/>
          </a:p>
          <a:p>
            <a:pPr marL="285750" indent="-285750" algn="l" rtl="0">
              <a:buFont typeface="Arial" panose="020B0604020202020204" pitchFamily="34" charset="0"/>
              <a:buChar char="•"/>
            </a:pPr>
            <a:r>
              <a:rPr lang="en-US" dirty="0" err="1"/>
              <a:t>EventLog</a:t>
            </a:r>
            <a:r>
              <a:rPr lang="en-US" dirty="0"/>
              <a:t> (only when running on Windows)</a:t>
            </a:r>
          </a:p>
          <a:p>
            <a:pPr algn="l" rtl="0"/>
            <a:endParaRPr lang="en-US" dirty="0" smtClean="0"/>
          </a:p>
          <a:p>
            <a:pPr algn="l" rtl="0"/>
            <a:endParaRPr lang="en-US" dirty="0"/>
          </a:p>
          <a:p>
            <a:pPr algn="l" rtl="0"/>
            <a:endParaRPr lang="en-US" dirty="0"/>
          </a:p>
        </p:txBody>
      </p:sp>
      <p:pic>
        <p:nvPicPr>
          <p:cNvPr id="17410" name="Picture 2" descr="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0929" y="3928622"/>
            <a:ext cx="5822217" cy="2859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953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289" y="224286"/>
            <a:ext cx="4278700" cy="523220"/>
          </a:xfrm>
          <a:prstGeom prst="rect">
            <a:avLst/>
          </a:prstGeom>
          <a:noFill/>
        </p:spPr>
        <p:txBody>
          <a:bodyPr wrap="square" rtlCol="0">
            <a:spAutoFit/>
          </a:bodyPr>
          <a:lstStyle>
            <a:defPPr>
              <a:defRPr lang="he-IL"/>
            </a:defPPr>
            <a:lvl1pPr algn="l" rtl="0">
              <a:defRPr sz="2800"/>
            </a:lvl1pPr>
          </a:lstStyle>
          <a:p>
            <a:r>
              <a:rPr lang="en-US" dirty="0" smtClean="0"/>
              <a:t>Middleware</a:t>
            </a:r>
            <a:endParaRPr lang="en-US" dirty="0"/>
          </a:p>
        </p:txBody>
      </p:sp>
      <p:pic>
        <p:nvPicPr>
          <p:cNvPr id="11266" name="Picture 2" descr="Image result for net core middlewar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7016" y="2534728"/>
            <a:ext cx="5715000" cy="36576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19177" y="1040952"/>
            <a:ext cx="8367623" cy="1200329"/>
          </a:xfrm>
          <a:prstGeom prst="rect">
            <a:avLst/>
          </a:prstGeom>
        </p:spPr>
        <p:txBody>
          <a:bodyPr wrap="square">
            <a:spAutoFit/>
          </a:bodyPr>
          <a:lstStyle/>
          <a:p>
            <a:pPr algn="l" rtl="0"/>
            <a:r>
              <a:rPr lang="en-US" dirty="0">
                <a:solidFill>
                  <a:srgbClr val="171717"/>
                </a:solidFill>
                <a:latin typeface="Segoe UI" panose="020B0502040204020203" pitchFamily="34" charset="0"/>
              </a:rPr>
              <a:t>Middleware is software that's assembled into an app pipeline to handle requests and responses. Each component:</a:t>
            </a:r>
          </a:p>
          <a:p>
            <a:pPr marL="285750" indent="-285750" algn="l" rtl="0">
              <a:buFont typeface="Arial" panose="020B0604020202020204" pitchFamily="34" charset="0"/>
              <a:buChar char="•"/>
            </a:pPr>
            <a:r>
              <a:rPr lang="en-US" dirty="0">
                <a:solidFill>
                  <a:srgbClr val="171717"/>
                </a:solidFill>
                <a:latin typeface="Segoe UI" panose="020B0502040204020203" pitchFamily="34" charset="0"/>
              </a:rPr>
              <a:t>Chooses whether to pass the request to the next component in the pipeline.</a:t>
            </a:r>
          </a:p>
          <a:p>
            <a:pPr marL="285750" indent="-285750" algn="l" rtl="0">
              <a:buFont typeface="Arial" panose="020B0604020202020204" pitchFamily="34" charset="0"/>
              <a:buChar char="•"/>
            </a:pPr>
            <a:r>
              <a:rPr lang="en-US" dirty="0" smtClean="0">
                <a:solidFill>
                  <a:srgbClr val="171717"/>
                </a:solidFill>
                <a:latin typeface="Segoe UI" panose="020B0502040204020203" pitchFamily="34" charset="0"/>
              </a:rPr>
              <a:t>Can </a:t>
            </a:r>
            <a:r>
              <a:rPr lang="en-US" dirty="0">
                <a:solidFill>
                  <a:srgbClr val="171717"/>
                </a:solidFill>
                <a:latin typeface="Segoe UI" panose="020B0502040204020203" pitchFamily="34" charset="0"/>
              </a:rPr>
              <a:t>perform work before and after the next component in the pipeline.</a:t>
            </a:r>
            <a:endParaRPr lang="en-US" b="0" i="0" dirty="0">
              <a:solidFill>
                <a:srgbClr val="171717"/>
              </a:solidFill>
              <a:effectLst/>
              <a:latin typeface="Segoe UI" panose="020B0502040204020203" pitchFamily="34" charset="0"/>
            </a:endParaRPr>
          </a:p>
        </p:txBody>
      </p:sp>
    </p:spTree>
    <p:extLst>
      <p:ext uri="{BB962C8B-B14F-4D97-AF65-F5344CB8AC3E}">
        <p14:creationId xmlns:p14="http://schemas.microsoft.com/office/powerpoint/2010/main" val="2586514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289" y="224286"/>
            <a:ext cx="4278700" cy="584775"/>
          </a:xfrm>
          <a:prstGeom prst="rect">
            <a:avLst/>
          </a:prstGeom>
          <a:noFill/>
        </p:spPr>
        <p:txBody>
          <a:bodyPr wrap="square" rtlCol="0">
            <a:spAutoFit/>
          </a:bodyPr>
          <a:lstStyle>
            <a:defPPr>
              <a:defRPr lang="he-IL"/>
            </a:defPPr>
            <a:lvl1pPr algn="l" rtl="0">
              <a:defRPr sz="2800"/>
            </a:lvl1pPr>
          </a:lstStyle>
          <a:p>
            <a:r>
              <a:rPr lang="en-US" sz="3200" dirty="0" smtClean="0"/>
              <a:t>Middleware</a:t>
            </a:r>
            <a:endParaRPr lang="en-US" sz="3200" dirty="0"/>
          </a:p>
        </p:txBody>
      </p:sp>
      <p:sp>
        <p:nvSpPr>
          <p:cNvPr id="3" name="TextBox 2"/>
          <p:cNvSpPr txBox="1"/>
          <p:nvPr/>
        </p:nvSpPr>
        <p:spPr>
          <a:xfrm>
            <a:off x="336430" y="2678676"/>
            <a:ext cx="2967487" cy="400110"/>
          </a:xfrm>
          <a:prstGeom prst="rect">
            <a:avLst/>
          </a:prstGeom>
          <a:noFill/>
        </p:spPr>
        <p:txBody>
          <a:bodyPr wrap="square" rtlCol="0">
            <a:spAutoFit/>
          </a:bodyPr>
          <a:lstStyle/>
          <a:p>
            <a:pPr algn="l" rtl="0"/>
            <a:r>
              <a:rPr lang="en-US" sz="2000" b="1" dirty="0" smtClean="0"/>
              <a:t>Common middleware:</a:t>
            </a:r>
            <a:endParaRPr lang="en-US" sz="2000" b="1" dirty="0"/>
          </a:p>
        </p:txBody>
      </p:sp>
      <p:sp>
        <p:nvSpPr>
          <p:cNvPr id="4" name="Rectangle 3"/>
          <p:cNvSpPr/>
          <p:nvPr/>
        </p:nvSpPr>
        <p:spPr>
          <a:xfrm>
            <a:off x="577970" y="3246524"/>
            <a:ext cx="3452484" cy="2246769"/>
          </a:xfrm>
          <a:prstGeom prst="rect">
            <a:avLst/>
          </a:prstGeom>
        </p:spPr>
        <p:txBody>
          <a:bodyPr wrap="none">
            <a:spAutoFit/>
          </a:bodyPr>
          <a:lstStyle/>
          <a:p>
            <a:pPr marL="285750" indent="-285750" algn="l" rtl="0">
              <a:buFont typeface="Arial" panose="020B0604020202020204" pitchFamily="34" charset="0"/>
              <a:buChar char="•"/>
            </a:pPr>
            <a:r>
              <a:rPr lang="en-US" sz="2000" dirty="0" err="1" smtClean="0">
                <a:solidFill>
                  <a:srgbClr val="171717"/>
                </a:solidFill>
                <a:latin typeface="SFMono-Regular"/>
              </a:rPr>
              <a:t>UseStaticFiles</a:t>
            </a:r>
            <a:endParaRPr lang="en-US" sz="2000" dirty="0" smtClean="0">
              <a:solidFill>
                <a:srgbClr val="171717"/>
              </a:solidFill>
              <a:latin typeface="SFMono-Regular"/>
            </a:endParaRPr>
          </a:p>
          <a:p>
            <a:pPr marL="285750" indent="-285750" algn="l" rtl="0">
              <a:buFont typeface="Arial" panose="020B0604020202020204" pitchFamily="34" charset="0"/>
              <a:buChar char="•"/>
            </a:pPr>
            <a:r>
              <a:rPr lang="en-US" sz="2000" dirty="0" err="1" smtClean="0"/>
              <a:t>UseRouting</a:t>
            </a:r>
            <a:endParaRPr lang="en-US" sz="2000" dirty="0" smtClean="0"/>
          </a:p>
          <a:p>
            <a:pPr marL="285750" indent="-285750" algn="l" rtl="0">
              <a:buFont typeface="Arial" panose="020B0604020202020204" pitchFamily="34" charset="0"/>
              <a:buChar char="•"/>
            </a:pPr>
            <a:r>
              <a:rPr lang="en-US" sz="2000" dirty="0" err="1" smtClean="0"/>
              <a:t>UseAuthentication</a:t>
            </a:r>
            <a:endParaRPr lang="en-US" sz="2000" dirty="0" smtClean="0"/>
          </a:p>
          <a:p>
            <a:pPr marL="285750" indent="-285750" algn="l" rtl="0">
              <a:buFont typeface="Arial" panose="020B0604020202020204" pitchFamily="34" charset="0"/>
              <a:buChar char="•"/>
            </a:pPr>
            <a:r>
              <a:rPr lang="en-US" sz="2000" dirty="0" err="1" smtClean="0"/>
              <a:t>UseAuthorization</a:t>
            </a:r>
            <a:endParaRPr lang="en-US" sz="2000" dirty="0" smtClean="0"/>
          </a:p>
          <a:p>
            <a:pPr marL="285750" indent="-285750" algn="l" rtl="0">
              <a:buFont typeface="Arial" panose="020B0604020202020204" pitchFamily="34" charset="0"/>
              <a:buChar char="•"/>
            </a:pPr>
            <a:r>
              <a:rPr lang="en-US" sz="2000" dirty="0"/>
              <a:t>Health Check</a:t>
            </a:r>
            <a:endParaRPr lang="en-US" sz="2000" dirty="0" smtClean="0"/>
          </a:p>
          <a:p>
            <a:pPr marL="285750" indent="-285750" algn="l" rtl="0">
              <a:buFont typeface="Arial" panose="020B0604020202020204" pitchFamily="34" charset="0"/>
              <a:buChar char="•"/>
            </a:pPr>
            <a:r>
              <a:rPr lang="en-US" sz="2000" dirty="0" err="1" smtClean="0"/>
              <a:t>UseDeveloperExceptionPage</a:t>
            </a:r>
            <a:endParaRPr lang="en-US" sz="2000" dirty="0" smtClean="0"/>
          </a:p>
          <a:p>
            <a:pPr marL="285750" indent="-285750" algn="l" rtl="0">
              <a:buFont typeface="Arial" panose="020B0604020202020204" pitchFamily="34" charset="0"/>
              <a:buChar char="•"/>
            </a:pPr>
            <a:r>
              <a:rPr lang="en-US" sz="2000" dirty="0" err="1"/>
              <a:t>UseEndpoints</a:t>
            </a:r>
            <a:endParaRPr lang="en-US" sz="2000" dirty="0"/>
          </a:p>
        </p:txBody>
      </p:sp>
      <p:sp>
        <p:nvSpPr>
          <p:cNvPr id="7" name="Rectangle 2"/>
          <p:cNvSpPr>
            <a:spLocks noChangeArrowheads="1"/>
          </p:cNvSpPr>
          <p:nvPr/>
        </p:nvSpPr>
        <p:spPr bwMode="auto">
          <a:xfrm>
            <a:off x="224289" y="1209812"/>
            <a:ext cx="870438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algn="l" rtl="0" eaLnBrk="0" fontAlgn="base" hangingPunct="0">
              <a:spcBef>
                <a:spcPct val="0"/>
              </a:spcBef>
              <a:spcAft>
                <a:spcPct val="0"/>
              </a:spcAft>
              <a:defRPr>
                <a:solidFill>
                  <a:schemeClr val="tx1"/>
                </a:solidFill>
                <a:latin typeface="Arial" panose="020B0604020202020204" pitchFamily="34" charset="0"/>
              </a:defRPr>
            </a:lvl2pPr>
            <a:lvl3pPr algn="l" rtl="0" eaLnBrk="0" fontAlgn="base" hangingPunct="0">
              <a:spcBef>
                <a:spcPct val="0"/>
              </a:spcBef>
              <a:spcAft>
                <a:spcPct val="0"/>
              </a:spcAft>
              <a:defRPr>
                <a:solidFill>
                  <a:schemeClr val="tx1"/>
                </a:solidFill>
                <a:latin typeface="Arial" panose="020B0604020202020204" pitchFamily="34" charset="0"/>
              </a:defRPr>
            </a:lvl3pPr>
            <a:lvl4pPr algn="l" rtl="0" eaLnBrk="0" fontAlgn="base" hangingPunct="0">
              <a:spcBef>
                <a:spcPct val="0"/>
              </a:spcBef>
              <a:spcAft>
                <a:spcPct val="0"/>
              </a:spcAft>
              <a:defRPr>
                <a:solidFill>
                  <a:schemeClr val="tx1"/>
                </a:solidFill>
                <a:latin typeface="Arial" panose="020B0604020202020204" pitchFamily="34" charset="0"/>
              </a:defRPr>
            </a:lvl4pPr>
            <a:lvl5pPr algn="l" rtl="0" eaLnBrk="0" fontAlgn="base" hangingPunct="0">
              <a:spcBef>
                <a:spcPct val="0"/>
              </a:spcBef>
              <a:spcAft>
                <a:spcPct val="0"/>
              </a:spcAft>
              <a:defRPr>
                <a:solidFill>
                  <a:schemeClr val="tx1"/>
                </a:solidFill>
                <a:latin typeface="Arial" panose="020B0604020202020204" pitchFamily="34" charset="0"/>
              </a:defRPr>
            </a:lvl5pPr>
            <a:lvl6pPr algn="l" rtl="0" eaLnBrk="0" fontAlgn="base" hangingPunct="0">
              <a:spcBef>
                <a:spcPct val="0"/>
              </a:spcBef>
              <a:spcAft>
                <a:spcPct val="0"/>
              </a:spcAft>
              <a:defRPr>
                <a:solidFill>
                  <a:schemeClr val="tx1"/>
                </a:solidFill>
                <a:latin typeface="Arial" panose="020B0604020202020204" pitchFamily="34" charset="0"/>
              </a:defRPr>
            </a:lvl6pPr>
            <a:lvl7pPr algn="l" rtl="0" eaLnBrk="0" fontAlgn="base" hangingPunct="0">
              <a:spcBef>
                <a:spcPct val="0"/>
              </a:spcBef>
              <a:spcAft>
                <a:spcPct val="0"/>
              </a:spcAft>
              <a:defRPr>
                <a:solidFill>
                  <a:schemeClr val="tx1"/>
                </a:solidFill>
                <a:latin typeface="Arial" panose="020B0604020202020204" pitchFamily="34" charset="0"/>
              </a:defRPr>
            </a:lvl7pPr>
            <a:lvl8pPr algn="l" rtl="0" eaLnBrk="0" fontAlgn="base" hangingPunct="0">
              <a:spcBef>
                <a:spcPct val="0"/>
              </a:spcBef>
              <a:spcAft>
                <a:spcPct val="0"/>
              </a:spcAft>
              <a:defRPr>
                <a:solidFill>
                  <a:schemeClr val="tx1"/>
                </a:solidFill>
                <a:latin typeface="Arial" panose="020B0604020202020204" pitchFamily="34" charset="0"/>
              </a:defRPr>
            </a:lvl8pPr>
            <a:lvl9pPr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The order that middleware components are added in the </a:t>
            </a:r>
            <a:r>
              <a:rPr kumimoji="0" lang="en-US" altLang="en-US" sz="1100" b="0" i="0" u="none" strike="noStrike" cap="none" normalizeH="0" baseline="0" dirty="0" err="1" smtClean="0">
                <a:ln>
                  <a:noFill/>
                </a:ln>
                <a:solidFill>
                  <a:srgbClr val="171717"/>
                </a:solidFill>
                <a:effectLst/>
                <a:latin typeface="SFMono-Regular"/>
              </a:rPr>
              <a:t>Startup.Configure</a:t>
            </a:r>
            <a:r>
              <a:rPr kumimoji="0" lang="en-US" altLang="en-US"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 method defines the order in which the middleware components are invoked on requests and the reverse order for the response</a:t>
            </a:r>
            <a:r>
              <a:rPr kumimoji="0" lang="en-US" altLang="en-US" sz="900" b="0" i="0" u="none" strike="noStrike" cap="none" normalizeH="0" baseline="0" dirty="0" smtClean="0">
                <a:ln>
                  <a:noFill/>
                </a:ln>
                <a:solidFill>
                  <a:schemeClr val="tx1"/>
                </a:solidFill>
                <a:effectLst/>
              </a:rPr>
              <a:t> </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576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289" y="224286"/>
            <a:ext cx="4278700" cy="584775"/>
          </a:xfrm>
          <a:prstGeom prst="rect">
            <a:avLst/>
          </a:prstGeom>
          <a:noFill/>
        </p:spPr>
        <p:txBody>
          <a:bodyPr wrap="square" rtlCol="0">
            <a:spAutoFit/>
          </a:bodyPr>
          <a:lstStyle>
            <a:defPPr>
              <a:defRPr lang="he-IL"/>
            </a:defPPr>
            <a:lvl1pPr algn="l" rtl="0">
              <a:defRPr sz="2800"/>
            </a:lvl1pPr>
          </a:lstStyle>
          <a:p>
            <a:r>
              <a:rPr lang="en-US" sz="3200" dirty="0" smtClean="0"/>
              <a:t>Middleware </a:t>
            </a:r>
            <a:r>
              <a:rPr lang="en-IL" sz="3200" dirty="0" smtClean="0"/>
              <a:t>–</a:t>
            </a:r>
            <a:r>
              <a:rPr lang="en-US" sz="3200" dirty="0" smtClean="0"/>
              <a:t> custom</a:t>
            </a:r>
            <a:endParaRPr lang="en-US" sz="3200" dirty="0"/>
          </a:p>
        </p:txBody>
      </p:sp>
      <p:pic>
        <p:nvPicPr>
          <p:cNvPr id="5" name="Picture 4"/>
          <p:cNvPicPr>
            <a:picLocks noChangeAspect="1"/>
          </p:cNvPicPr>
          <p:nvPr/>
        </p:nvPicPr>
        <p:blipFill>
          <a:blip r:embed="rId2"/>
          <a:stretch>
            <a:fillRect/>
          </a:stretch>
        </p:blipFill>
        <p:spPr>
          <a:xfrm>
            <a:off x="1995847" y="3290798"/>
            <a:ext cx="6791325" cy="3295650"/>
          </a:xfrm>
          <a:prstGeom prst="rect">
            <a:avLst/>
          </a:prstGeom>
        </p:spPr>
      </p:pic>
      <p:sp>
        <p:nvSpPr>
          <p:cNvPr id="6" name="Rectangle 5"/>
          <p:cNvSpPr/>
          <p:nvPr/>
        </p:nvSpPr>
        <p:spPr>
          <a:xfrm>
            <a:off x="224288" y="1277035"/>
            <a:ext cx="6547447" cy="2031325"/>
          </a:xfrm>
          <a:prstGeom prst="rect">
            <a:avLst/>
          </a:prstGeom>
        </p:spPr>
        <p:txBody>
          <a:bodyPr wrap="square">
            <a:spAutoFit/>
          </a:bodyPr>
          <a:lstStyle/>
          <a:p>
            <a:pPr marL="285750" indent="-285750" algn="l" rtl="0">
              <a:buFont typeface="Arial" panose="020B0604020202020204" pitchFamily="34" charset="0"/>
              <a:buChar char="•"/>
            </a:pPr>
            <a:r>
              <a:rPr lang="en-US" dirty="0">
                <a:solidFill>
                  <a:srgbClr val="171717"/>
                </a:solidFill>
                <a:latin typeface="Segoe UI" panose="020B0502040204020203" pitchFamily="34" charset="0"/>
              </a:rPr>
              <a:t>Chain multiple request delegates together with </a:t>
            </a:r>
            <a:r>
              <a:rPr lang="en-US" dirty="0" smtClean="0">
                <a:solidFill>
                  <a:srgbClr val="171717"/>
                </a:solidFill>
                <a:latin typeface="Segoe UI" panose="020B0502040204020203" pitchFamily="34" charset="0"/>
              </a:rPr>
              <a:t>”</a:t>
            </a:r>
            <a:r>
              <a:rPr lang="en-US" u="sng" dirty="0" smtClean="0">
                <a:latin typeface="Segoe UI" panose="020B0502040204020203" pitchFamily="34" charset="0"/>
              </a:rPr>
              <a:t>Use” method</a:t>
            </a:r>
          </a:p>
          <a:p>
            <a:pPr marL="285750" indent="-285750" algn="l" rtl="0">
              <a:buFont typeface="Arial" panose="020B0604020202020204" pitchFamily="34" charset="0"/>
              <a:buChar char="•"/>
            </a:pPr>
            <a:r>
              <a:rPr lang="en-US" dirty="0"/>
              <a:t>You can short-circuit the pipeline by </a:t>
            </a:r>
            <a:r>
              <a:rPr lang="en-US" i="1" dirty="0"/>
              <a:t>not</a:t>
            </a:r>
            <a:r>
              <a:rPr lang="en-US" dirty="0"/>
              <a:t> calling the </a:t>
            </a:r>
            <a:r>
              <a:rPr lang="en-US" i="1" dirty="0"/>
              <a:t>next</a:t>
            </a:r>
            <a:r>
              <a:rPr lang="en-US" dirty="0"/>
              <a:t> parameter</a:t>
            </a:r>
            <a:r>
              <a:rPr lang="en-US" dirty="0" smtClean="0"/>
              <a:t>.</a:t>
            </a:r>
          </a:p>
          <a:p>
            <a:pPr marL="285750" indent="-285750" algn="l" rtl="0">
              <a:buFont typeface="Arial" panose="020B0604020202020204" pitchFamily="34" charset="0"/>
              <a:buChar char="•"/>
            </a:pPr>
            <a:r>
              <a:rPr lang="en-US" dirty="0"/>
              <a:t>You can typically perform actions both before and after the next delegate</a:t>
            </a:r>
            <a:r>
              <a:rPr lang="en-US" u="sng" dirty="0" smtClean="0">
                <a:latin typeface="Segoe UI" panose="020B0502040204020203" pitchFamily="34" charset="0"/>
              </a:rPr>
              <a:t> </a:t>
            </a:r>
          </a:p>
          <a:p>
            <a:pPr marL="285750" indent="-285750" algn="l" rtl="0">
              <a:buFont typeface="Arial" panose="020B0604020202020204" pitchFamily="34" charset="0"/>
              <a:buChar char="•"/>
            </a:pPr>
            <a:r>
              <a:rPr lang="en-US" dirty="0"/>
              <a:t>The first Run delegate terminates the pipeline</a:t>
            </a:r>
          </a:p>
        </p:txBody>
      </p:sp>
    </p:spTree>
    <p:extLst>
      <p:ext uri="{BB962C8B-B14F-4D97-AF65-F5344CB8AC3E}">
        <p14:creationId xmlns:p14="http://schemas.microsoft.com/office/powerpoint/2010/main" val="3938601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4289" y="224286"/>
            <a:ext cx="4278700" cy="584775"/>
          </a:xfrm>
          <a:prstGeom prst="rect">
            <a:avLst/>
          </a:prstGeom>
          <a:noFill/>
        </p:spPr>
        <p:txBody>
          <a:bodyPr wrap="square" rtlCol="0">
            <a:spAutoFit/>
          </a:bodyPr>
          <a:lstStyle>
            <a:defPPr>
              <a:defRPr lang="he-IL"/>
            </a:defPPr>
            <a:lvl1pPr algn="l" rtl="0">
              <a:defRPr sz="2800"/>
            </a:lvl1pPr>
          </a:lstStyle>
          <a:p>
            <a:r>
              <a:rPr lang="en-US" sz="3200" dirty="0" smtClean="0"/>
              <a:t>Middleware </a:t>
            </a:r>
            <a:r>
              <a:rPr lang="en-IL" sz="3200" dirty="0" smtClean="0"/>
              <a:t>–</a:t>
            </a:r>
            <a:r>
              <a:rPr lang="en-US" sz="3200" dirty="0" smtClean="0"/>
              <a:t> custom</a:t>
            </a:r>
            <a:endParaRPr lang="en-US" sz="3200" dirty="0"/>
          </a:p>
        </p:txBody>
      </p:sp>
      <p:sp>
        <p:nvSpPr>
          <p:cNvPr id="6" name="Rectangle 5"/>
          <p:cNvSpPr/>
          <p:nvPr/>
        </p:nvSpPr>
        <p:spPr>
          <a:xfrm>
            <a:off x="224289" y="1277035"/>
            <a:ext cx="2717320" cy="1477328"/>
          </a:xfrm>
          <a:prstGeom prst="rect">
            <a:avLst/>
          </a:prstGeom>
        </p:spPr>
        <p:txBody>
          <a:bodyPr wrap="square">
            <a:spAutoFit/>
          </a:bodyPr>
          <a:lstStyle/>
          <a:p>
            <a:pPr algn="l" rtl="0"/>
            <a:r>
              <a:rPr lang="en-US" b="1" dirty="0" smtClean="0">
                <a:solidFill>
                  <a:srgbClr val="171717"/>
                </a:solidFill>
                <a:latin typeface="Segoe UI" panose="020B0502040204020203" pitchFamily="34" charset="0"/>
              </a:rPr>
              <a:t>Middleware class</a:t>
            </a:r>
            <a:endParaRPr lang="he-IL" b="1" dirty="0" smtClean="0">
              <a:solidFill>
                <a:srgbClr val="171717"/>
              </a:solidFill>
              <a:latin typeface="Segoe UI" panose="020B0502040204020203" pitchFamily="34" charset="0"/>
            </a:endParaRPr>
          </a:p>
          <a:p>
            <a:pPr algn="l" rtl="0"/>
            <a:r>
              <a:rPr lang="en-US" dirty="0"/>
              <a:t>Middleware is generally encapsulated in a class and exposed with an extension method</a:t>
            </a:r>
            <a:endParaRPr lang="en-US" b="1" dirty="0"/>
          </a:p>
        </p:txBody>
      </p:sp>
      <p:pic>
        <p:nvPicPr>
          <p:cNvPr id="3" name="Picture 2"/>
          <p:cNvPicPr>
            <a:picLocks noChangeAspect="1"/>
          </p:cNvPicPr>
          <p:nvPr/>
        </p:nvPicPr>
        <p:blipFill>
          <a:blip r:embed="rId2"/>
          <a:stretch>
            <a:fillRect/>
          </a:stretch>
        </p:blipFill>
        <p:spPr>
          <a:xfrm>
            <a:off x="4162427" y="1277035"/>
            <a:ext cx="4231076" cy="3356152"/>
          </a:xfrm>
          <a:prstGeom prst="rect">
            <a:avLst/>
          </a:prstGeom>
        </p:spPr>
      </p:pic>
      <p:pic>
        <p:nvPicPr>
          <p:cNvPr id="4" name="Picture 3"/>
          <p:cNvPicPr>
            <a:picLocks noChangeAspect="1"/>
          </p:cNvPicPr>
          <p:nvPr/>
        </p:nvPicPr>
        <p:blipFill>
          <a:blip r:embed="rId3"/>
          <a:stretch>
            <a:fillRect/>
          </a:stretch>
        </p:blipFill>
        <p:spPr>
          <a:xfrm>
            <a:off x="4162427" y="4938516"/>
            <a:ext cx="3604944" cy="1278971"/>
          </a:xfrm>
          <a:prstGeom prst="rect">
            <a:avLst/>
          </a:prstGeom>
        </p:spPr>
      </p:pic>
    </p:spTree>
    <p:extLst>
      <p:ext uri="{BB962C8B-B14F-4D97-AF65-F5344CB8AC3E}">
        <p14:creationId xmlns:p14="http://schemas.microsoft.com/office/powerpoint/2010/main" val="3344282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917" y="0"/>
            <a:ext cx="3413910" cy="830997"/>
          </a:xfrm>
          <a:prstGeom prst="rect">
            <a:avLst/>
          </a:prstGeom>
        </p:spPr>
        <p:txBody>
          <a:bodyPr wrap="square">
            <a:spAutoFit/>
          </a:bodyPr>
          <a:lstStyle/>
          <a:p>
            <a:pPr algn="ctr" rtl="0"/>
            <a:r>
              <a:rPr lang="en-US" sz="4800" spc="-150" dirty="0" smtClean="0">
                <a:cs typeface="OronMF" pitchFamily="2" charset="-79"/>
              </a:rPr>
              <a:t>Docker</a:t>
            </a:r>
            <a:endParaRPr lang="he-IL" sz="4800" spc="-150" dirty="0">
              <a:cs typeface="OronMF" pitchFamily="2" charset="-79"/>
            </a:endParaRPr>
          </a:p>
        </p:txBody>
      </p:sp>
      <p:sp>
        <p:nvSpPr>
          <p:cNvPr id="3" name="Rectangle 2"/>
          <p:cNvSpPr/>
          <p:nvPr/>
        </p:nvSpPr>
        <p:spPr>
          <a:xfrm>
            <a:off x="390162" y="1207063"/>
            <a:ext cx="7891195" cy="646331"/>
          </a:xfrm>
          <a:prstGeom prst="rect">
            <a:avLst/>
          </a:prstGeom>
        </p:spPr>
        <p:txBody>
          <a:bodyPr wrap="square">
            <a:spAutoFit/>
          </a:bodyPr>
          <a:lstStyle/>
          <a:p>
            <a:pPr algn="l" rtl="0"/>
            <a:r>
              <a:rPr lang="en-US" b="1" dirty="0"/>
              <a:t>Docker</a:t>
            </a:r>
            <a:r>
              <a:rPr lang="en-US" dirty="0"/>
              <a:t> is a set of platform as a service (PaaS) products that use OS-level virtualization to deliver software in packages called containers</a:t>
            </a:r>
          </a:p>
        </p:txBody>
      </p:sp>
      <p:sp>
        <p:nvSpPr>
          <p:cNvPr id="4" name="Rectangle 3"/>
          <p:cNvSpPr/>
          <p:nvPr/>
        </p:nvSpPr>
        <p:spPr>
          <a:xfrm>
            <a:off x="390162" y="2120992"/>
            <a:ext cx="6349042" cy="923330"/>
          </a:xfrm>
          <a:prstGeom prst="rect">
            <a:avLst/>
          </a:prstGeom>
        </p:spPr>
        <p:txBody>
          <a:bodyPr wrap="square">
            <a:spAutoFit/>
          </a:bodyPr>
          <a:lstStyle/>
          <a:p>
            <a:pPr algn="l" rtl="0"/>
            <a:r>
              <a:rPr lang="en-US" b="1" dirty="0" smtClean="0"/>
              <a:t>Container</a:t>
            </a:r>
            <a:r>
              <a:rPr lang="en-US" dirty="0" smtClean="0"/>
              <a:t> </a:t>
            </a:r>
            <a:r>
              <a:rPr lang="en-US" dirty="0"/>
              <a:t>is a standard unit of software that packages up code and all its dependencies so the application runs quickly and reliably from one computing environment to another.</a:t>
            </a:r>
          </a:p>
        </p:txBody>
      </p:sp>
      <p:pic>
        <p:nvPicPr>
          <p:cNvPr id="5" name="Picture 4"/>
          <p:cNvPicPr>
            <a:picLocks noChangeAspect="1"/>
          </p:cNvPicPr>
          <p:nvPr/>
        </p:nvPicPr>
        <p:blipFill>
          <a:blip r:embed="rId2"/>
          <a:stretch>
            <a:fillRect/>
          </a:stretch>
        </p:blipFill>
        <p:spPr>
          <a:xfrm>
            <a:off x="651291" y="3044322"/>
            <a:ext cx="6010275" cy="2171700"/>
          </a:xfrm>
          <a:prstGeom prst="rect">
            <a:avLst/>
          </a:prstGeom>
        </p:spPr>
      </p:pic>
    </p:spTree>
    <p:extLst>
      <p:ext uri="{BB962C8B-B14F-4D97-AF65-F5344CB8AC3E}">
        <p14:creationId xmlns:p14="http://schemas.microsoft.com/office/powerpoint/2010/main" val="3491824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814" y="199209"/>
            <a:ext cx="4379340" cy="461665"/>
          </a:xfrm>
          <a:prstGeom prst="rect">
            <a:avLst/>
          </a:prstGeom>
        </p:spPr>
        <p:txBody>
          <a:bodyPr wrap="none">
            <a:spAutoFit/>
          </a:bodyPr>
          <a:lstStyle/>
          <a:p>
            <a:pPr algn="r" rtl="0"/>
            <a:r>
              <a:rPr lang="en-US" sz="2400" b="1" dirty="0" smtClean="0">
                <a:solidFill>
                  <a:srgbClr val="171717"/>
                </a:solidFill>
                <a:latin typeface="Segoe UI" panose="020B0502040204020203" pitchFamily="34" charset="0"/>
              </a:rPr>
              <a:t>Visual studio Container </a:t>
            </a:r>
            <a:r>
              <a:rPr lang="en-US" sz="2400" b="1" dirty="0">
                <a:solidFill>
                  <a:srgbClr val="171717"/>
                </a:solidFill>
                <a:latin typeface="Segoe UI" panose="020B0502040204020203" pitchFamily="34" charset="0"/>
              </a:rPr>
              <a:t>Tools</a:t>
            </a:r>
            <a:endParaRPr lang="en-US" sz="2400" b="1" i="0" dirty="0">
              <a:solidFill>
                <a:srgbClr val="171717"/>
              </a:solidFill>
              <a:effectLst/>
              <a:latin typeface="Segoe UI" panose="020B0502040204020203" pitchFamily="34" charset="0"/>
            </a:endParaRPr>
          </a:p>
        </p:txBody>
      </p:sp>
      <p:pic>
        <p:nvPicPr>
          <p:cNvPr id="16386" name="Picture 2" descr="Image result for visual studio container tools&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5154" y="2212069"/>
            <a:ext cx="4229100" cy="107632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5186408" y="5283752"/>
            <a:ext cx="3124200" cy="93345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128620842"/>
              </p:ext>
            </p:extLst>
          </p:nvPr>
        </p:nvGraphicFramePr>
        <p:xfrm>
          <a:off x="240762" y="1345430"/>
          <a:ext cx="7886700" cy="678760"/>
        </p:xfrm>
        <a:graphic>
          <a:graphicData uri="http://schemas.openxmlformats.org/drawingml/2006/table">
            <a:tbl>
              <a:tblPr/>
              <a:tblGrid>
                <a:gridCol w="7886700">
                  <a:extLst>
                    <a:ext uri="{9D8B030D-6E8A-4147-A177-3AD203B41FA5}">
                      <a16:colId xmlns:a16="http://schemas.microsoft.com/office/drawing/2014/main" val="2423350837"/>
                    </a:ext>
                  </a:extLst>
                </a:gridCol>
              </a:tblGrid>
              <a:tr h="678760">
                <a:tc>
                  <a:txBody>
                    <a:bodyPr/>
                    <a:lstStyle/>
                    <a:p>
                      <a:pPr algn="l" rtl="0" fontAlgn="t"/>
                      <a:r>
                        <a:rPr lang="en-US" sz="1300" dirty="0">
                          <a:solidFill>
                            <a:srgbClr val="333333"/>
                          </a:solidFill>
                          <a:effectLst/>
                        </a:rPr>
                        <a:t>The Visual Studio Container Tools Extensions (Preview) are intended to extend the container tooling already in Visual Studio 2019 with the goal of aiding container developers in building and diagnosing their containerized applications</a:t>
                      </a:r>
                    </a:p>
                  </a:txBody>
                  <a:tcPr marL="67876" marR="141408" marT="33938" marB="33938">
                    <a:lnL>
                      <a:noFill/>
                    </a:lnL>
                    <a:lnR>
                      <a:noFill/>
                    </a:lnR>
                    <a:lnT>
                      <a:noFill/>
                    </a:lnT>
                    <a:lnB>
                      <a:noFill/>
                    </a:lnB>
                    <a:solidFill>
                      <a:srgbClr val="FFFFFF"/>
                    </a:solidFill>
                  </a:tcPr>
                </a:tc>
                <a:extLst>
                  <a:ext uri="{0D108BD9-81ED-4DB2-BD59-A6C34878D82A}">
                    <a16:rowId xmlns:a16="http://schemas.microsoft.com/office/drawing/2014/main" val="1863207603"/>
                  </a:ext>
                </a:extLst>
              </a:tr>
            </a:tbl>
          </a:graphicData>
        </a:graphic>
      </p:graphicFrame>
      <p:sp>
        <p:nvSpPr>
          <p:cNvPr id="5" name="Rectangle 4"/>
          <p:cNvSpPr/>
          <p:nvPr/>
        </p:nvSpPr>
        <p:spPr>
          <a:xfrm>
            <a:off x="240762" y="2212069"/>
            <a:ext cx="4572000" cy="4109330"/>
          </a:xfrm>
          <a:prstGeom prst="rect">
            <a:avLst/>
          </a:prstGeom>
        </p:spPr>
        <p:txBody>
          <a:bodyPr>
            <a:spAutoFit/>
          </a:bodyPr>
          <a:lstStyle/>
          <a:p>
            <a:pPr marL="285750" indent="-285750" algn="l" rtl="0">
              <a:lnSpc>
                <a:spcPct val="150000"/>
              </a:lnSpc>
              <a:buFont typeface="Arial" panose="020B0604020202020204" pitchFamily="34" charset="0"/>
              <a:buChar char="•"/>
            </a:pPr>
            <a:r>
              <a:rPr lang="en-US" sz="1600" dirty="0" smtClean="0">
                <a:solidFill>
                  <a:srgbClr val="333333"/>
                </a:solidFill>
                <a:latin typeface="Segoe UI Web (West European)"/>
              </a:rPr>
              <a:t>List </a:t>
            </a:r>
            <a:r>
              <a:rPr lang="en-US" sz="1600" dirty="0">
                <a:solidFill>
                  <a:srgbClr val="333333"/>
                </a:solidFill>
                <a:latin typeface="Segoe UI Web (West European)"/>
              </a:rPr>
              <a:t>images on local machine</a:t>
            </a:r>
          </a:p>
          <a:p>
            <a:pPr marL="285750" indent="-285750" algn="l" rtl="0">
              <a:lnSpc>
                <a:spcPct val="150000"/>
              </a:lnSpc>
              <a:buFont typeface="Arial" panose="020B0604020202020204" pitchFamily="34" charset="0"/>
              <a:buChar char="•"/>
            </a:pPr>
            <a:r>
              <a:rPr lang="en-US" sz="1600" dirty="0" smtClean="0">
                <a:solidFill>
                  <a:srgbClr val="333333"/>
                </a:solidFill>
                <a:latin typeface="Segoe UI Web (West European)"/>
              </a:rPr>
              <a:t>List </a:t>
            </a:r>
            <a:r>
              <a:rPr lang="en-US" sz="1600" dirty="0">
                <a:solidFill>
                  <a:srgbClr val="333333"/>
                </a:solidFill>
                <a:latin typeface="Segoe UI Web (West European)"/>
              </a:rPr>
              <a:t>containers on local machine</a:t>
            </a:r>
          </a:p>
          <a:p>
            <a:pPr marL="285750" indent="-285750" algn="l" rtl="0">
              <a:lnSpc>
                <a:spcPct val="150000"/>
              </a:lnSpc>
              <a:buFont typeface="Arial" panose="020B0604020202020204" pitchFamily="34" charset="0"/>
              <a:buChar char="•"/>
            </a:pPr>
            <a:r>
              <a:rPr lang="en-US" sz="1600" dirty="0">
                <a:solidFill>
                  <a:srgbClr val="333333"/>
                </a:solidFill>
                <a:latin typeface="Segoe UI Web (West European)"/>
              </a:rPr>
              <a:t>Start, Stop &amp; Remove containers</a:t>
            </a:r>
          </a:p>
          <a:p>
            <a:pPr marL="285750" indent="-285750" algn="l" rtl="0">
              <a:lnSpc>
                <a:spcPct val="150000"/>
              </a:lnSpc>
              <a:buFont typeface="Arial" panose="020B0604020202020204" pitchFamily="34" charset="0"/>
              <a:buChar char="•"/>
            </a:pPr>
            <a:r>
              <a:rPr lang="en-US" sz="1600" dirty="0" smtClean="0">
                <a:solidFill>
                  <a:srgbClr val="333333"/>
                </a:solidFill>
                <a:latin typeface="Segoe UI Web (West European)"/>
              </a:rPr>
              <a:t>View</a:t>
            </a:r>
            <a:r>
              <a:rPr lang="en-US" sz="1600" dirty="0">
                <a:solidFill>
                  <a:srgbClr val="333333"/>
                </a:solidFill>
                <a:latin typeface="Segoe UI Web (West European)"/>
              </a:rPr>
              <a:t>, Stream &amp; Search container logs</a:t>
            </a:r>
          </a:p>
          <a:p>
            <a:pPr marL="285750" indent="-285750" algn="l" rtl="0">
              <a:lnSpc>
                <a:spcPct val="150000"/>
              </a:lnSpc>
              <a:buFont typeface="Arial" panose="020B0604020202020204" pitchFamily="34" charset="0"/>
              <a:buChar char="•"/>
            </a:pPr>
            <a:r>
              <a:rPr lang="en-US" sz="1600" dirty="0">
                <a:solidFill>
                  <a:srgbClr val="333333"/>
                </a:solidFill>
                <a:latin typeface="Segoe UI Web (West European)"/>
              </a:rPr>
              <a:t>View file system in running containers</a:t>
            </a:r>
          </a:p>
          <a:p>
            <a:pPr marL="285750" indent="-285750" algn="l" rtl="0">
              <a:lnSpc>
                <a:spcPct val="150000"/>
              </a:lnSpc>
              <a:buFont typeface="Arial" panose="020B0604020202020204" pitchFamily="34" charset="0"/>
              <a:buChar char="•"/>
            </a:pPr>
            <a:r>
              <a:rPr lang="en-US" sz="1600" dirty="0">
                <a:solidFill>
                  <a:srgbClr val="333333"/>
                </a:solidFill>
                <a:latin typeface="Segoe UI Web (West European)"/>
              </a:rPr>
              <a:t>Open files from a running container</a:t>
            </a:r>
          </a:p>
          <a:p>
            <a:pPr marL="285750" indent="-285750" algn="l" rtl="0">
              <a:lnSpc>
                <a:spcPct val="150000"/>
              </a:lnSpc>
              <a:buFont typeface="Arial" panose="020B0604020202020204" pitchFamily="34" charset="0"/>
              <a:buChar char="•"/>
            </a:pPr>
            <a:r>
              <a:rPr lang="en-US" sz="1600" dirty="0">
                <a:solidFill>
                  <a:srgbClr val="333333"/>
                </a:solidFill>
                <a:latin typeface="Segoe UI Web (West European)"/>
              </a:rPr>
              <a:t>Open a terminal window into a running container</a:t>
            </a:r>
          </a:p>
          <a:p>
            <a:pPr marL="285750" indent="-285750" algn="l" rtl="0">
              <a:lnSpc>
                <a:spcPct val="150000"/>
              </a:lnSpc>
              <a:buFont typeface="Arial" panose="020B0604020202020204" pitchFamily="34" charset="0"/>
              <a:buChar char="•"/>
            </a:pPr>
            <a:r>
              <a:rPr lang="en-US" sz="1600" dirty="0">
                <a:solidFill>
                  <a:srgbClr val="333333"/>
                </a:solidFill>
                <a:latin typeface="Segoe UI Web (West European)"/>
              </a:rPr>
              <a:t>Attach to a process in a running container</a:t>
            </a:r>
          </a:p>
          <a:p>
            <a:pPr marL="285750" indent="-285750" algn="l" rtl="0">
              <a:lnSpc>
                <a:spcPct val="150000"/>
              </a:lnSpc>
              <a:buFont typeface="Arial" panose="020B0604020202020204" pitchFamily="34" charset="0"/>
              <a:buChar char="•"/>
            </a:pPr>
            <a:r>
              <a:rPr lang="en-US" sz="1600" dirty="0">
                <a:solidFill>
                  <a:srgbClr val="333333"/>
                </a:solidFill>
                <a:latin typeface="Segoe UI Web (West European)"/>
              </a:rPr>
              <a:t>Inspect port mappings &amp; environment variables</a:t>
            </a:r>
            <a:endParaRPr lang="en-US" sz="1600" b="0" i="0" dirty="0">
              <a:solidFill>
                <a:srgbClr val="333333"/>
              </a:solidFill>
              <a:effectLst/>
              <a:latin typeface="Segoe UI Web (West European)"/>
            </a:endParaRPr>
          </a:p>
        </p:txBody>
      </p:sp>
      <p:pic>
        <p:nvPicPr>
          <p:cNvPr id="6" name="Picture 5"/>
          <p:cNvPicPr>
            <a:picLocks noChangeAspect="1"/>
          </p:cNvPicPr>
          <p:nvPr/>
        </p:nvPicPr>
        <p:blipFill>
          <a:blip r:embed="rId4"/>
          <a:stretch>
            <a:fillRect/>
          </a:stretch>
        </p:blipFill>
        <p:spPr>
          <a:xfrm>
            <a:off x="5432754" y="3551927"/>
            <a:ext cx="2143125" cy="1600200"/>
          </a:xfrm>
          <a:prstGeom prst="rect">
            <a:avLst/>
          </a:prstGeom>
        </p:spPr>
      </p:pic>
    </p:spTree>
    <p:extLst>
      <p:ext uri="{BB962C8B-B14F-4D97-AF65-F5344CB8AC3E}">
        <p14:creationId xmlns:p14="http://schemas.microsoft.com/office/powerpoint/2010/main" val="15453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0150" y="2909077"/>
            <a:ext cx="6743700" cy="1446550"/>
          </a:xfrm>
          <a:prstGeom prst="rect">
            <a:avLst/>
          </a:prstGeom>
          <a:noFill/>
        </p:spPr>
        <p:txBody>
          <a:bodyPr wrap="square" rtlCol="1">
            <a:spAutoFit/>
          </a:bodyPr>
          <a:lstStyle/>
          <a:p>
            <a:pPr algn="ctr" rtl="0"/>
            <a:r>
              <a:rPr lang="en-US" sz="8800" spc="-150" dirty="0" smtClean="0">
                <a:cs typeface="OronMF" pitchFamily="2" charset="-79"/>
              </a:rPr>
              <a:t>Microservices</a:t>
            </a:r>
            <a:endParaRPr lang="he-IL" sz="8800" spc="-150" dirty="0">
              <a:cs typeface="OronMF" pitchFamily="2" charset="-79"/>
            </a:endParaRPr>
          </a:p>
        </p:txBody>
      </p:sp>
    </p:spTree>
    <p:extLst>
      <p:ext uri="{BB962C8B-B14F-4D97-AF65-F5344CB8AC3E}">
        <p14:creationId xmlns:p14="http://schemas.microsoft.com/office/powerpoint/2010/main" val="4042296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3297" y="1371600"/>
            <a:ext cx="7832785" cy="2246769"/>
          </a:xfrm>
          <a:prstGeom prst="rect">
            <a:avLst/>
          </a:prstGeom>
        </p:spPr>
        <p:txBody>
          <a:bodyPr wrap="square">
            <a:spAutoFit/>
          </a:bodyPr>
          <a:lstStyle/>
          <a:p>
            <a:pPr algn="l" rtl="0"/>
            <a:r>
              <a:rPr lang="en-US" sz="2800" dirty="0">
                <a:solidFill>
                  <a:srgbClr val="000000"/>
                </a:solidFill>
                <a:latin typeface="Calibri" panose="020F0502020204030204" pitchFamily="34" charset="0"/>
              </a:rPr>
              <a:t>Definition:</a:t>
            </a:r>
          </a:p>
          <a:p>
            <a:pPr algn="l" rtl="0"/>
            <a:r>
              <a:rPr lang="en-US" sz="2800" dirty="0" smtClean="0">
                <a:solidFill>
                  <a:srgbClr val="000000"/>
                </a:solidFill>
                <a:latin typeface="Calibri" panose="020F0502020204030204" pitchFamily="34" charset="0"/>
              </a:rPr>
              <a:t>“Microservices is </a:t>
            </a:r>
            <a:r>
              <a:rPr lang="en-US" sz="2800" dirty="0">
                <a:solidFill>
                  <a:srgbClr val="000000"/>
                </a:solidFill>
                <a:latin typeface="Calibri" panose="020F0502020204030204" pitchFamily="34" charset="0"/>
              </a:rPr>
              <a:t>a variant of the service-oriented architecture (SOA) architectural style that structures an application as a collection of loosely coupled services” (wiki)</a:t>
            </a:r>
            <a:endParaRPr lang="en-US" sz="2800" dirty="0"/>
          </a:p>
        </p:txBody>
      </p:sp>
      <p:sp>
        <p:nvSpPr>
          <p:cNvPr id="3" name="Rectangle 2"/>
          <p:cNvSpPr/>
          <p:nvPr/>
        </p:nvSpPr>
        <p:spPr>
          <a:xfrm>
            <a:off x="293298" y="78440"/>
            <a:ext cx="3383235" cy="830997"/>
          </a:xfrm>
          <a:prstGeom prst="rect">
            <a:avLst/>
          </a:prstGeom>
        </p:spPr>
        <p:txBody>
          <a:bodyPr wrap="none">
            <a:spAutoFit/>
          </a:bodyPr>
          <a:lstStyle/>
          <a:p>
            <a:pPr algn="ctr" rtl="0"/>
            <a:r>
              <a:rPr lang="en-US" sz="4800" spc="-150" dirty="0">
                <a:cs typeface="OronMF" pitchFamily="2" charset="-79"/>
              </a:rPr>
              <a:t>Microservices</a:t>
            </a:r>
            <a:endParaRPr lang="he-IL" sz="4800" spc="-150" dirty="0">
              <a:cs typeface="OronMF" pitchFamily="2" charset="-79"/>
            </a:endParaRPr>
          </a:p>
        </p:txBody>
      </p:sp>
      <p:sp>
        <p:nvSpPr>
          <p:cNvPr id="4" name="Rectangle 3"/>
          <p:cNvSpPr/>
          <p:nvPr/>
        </p:nvSpPr>
        <p:spPr>
          <a:xfrm>
            <a:off x="250168" y="3847380"/>
            <a:ext cx="7651630" cy="2492990"/>
          </a:xfrm>
          <a:prstGeom prst="rect">
            <a:avLst/>
          </a:prstGeom>
        </p:spPr>
        <p:txBody>
          <a:bodyPr wrap="square">
            <a:spAutoFit/>
          </a:bodyPr>
          <a:lstStyle/>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Break application into small, fine-grained, standalone services</a:t>
            </a:r>
          </a:p>
          <a:p>
            <a:pPr algn="l" rtl="0"/>
            <a:r>
              <a:rPr lang="en-US" sz="2400" dirty="0">
                <a:solidFill>
                  <a:srgbClr val="000000"/>
                </a:solidFill>
                <a:latin typeface="Arial" panose="020B0604020202020204" pitchFamily="34" charset="0"/>
              </a:rPr>
              <a:t> </a:t>
            </a:r>
            <a:r>
              <a:rPr lang="en-US" sz="2400" dirty="0" smtClean="0">
                <a:solidFill>
                  <a:srgbClr val="000000"/>
                </a:solidFill>
                <a:latin typeface="Arial" panose="020B0604020202020204" pitchFamily="34" charset="0"/>
              </a:rPr>
              <a:t>     </a:t>
            </a:r>
            <a:r>
              <a:rPr lang="en-US" sz="2400" dirty="0" smtClean="0">
                <a:solidFill>
                  <a:srgbClr val="000000"/>
                </a:solidFill>
                <a:latin typeface="Calibri" panose="020F0502020204030204" pitchFamily="34" charset="0"/>
              </a:rPr>
              <a:t>Each </a:t>
            </a:r>
            <a:r>
              <a:rPr lang="en-US" sz="2400" dirty="0">
                <a:solidFill>
                  <a:srgbClr val="000000"/>
                </a:solidFill>
                <a:latin typeface="Calibri" panose="020F0502020204030204" pitchFamily="34" charset="0"/>
              </a:rPr>
              <a:t>services has</a:t>
            </a:r>
          </a:p>
          <a:p>
            <a:pPr marL="742950" lvl="1" indent="-285750" algn="l" rtl="0">
              <a:buFont typeface="Arial" panose="020B0604020202020204" pitchFamily="34" charset="0"/>
              <a:buChar char="•"/>
            </a:pPr>
            <a:r>
              <a:rPr lang="en-US" sz="2800" dirty="0" smtClean="0">
                <a:solidFill>
                  <a:srgbClr val="000000"/>
                </a:solidFill>
                <a:latin typeface="Calibri" panose="020F0502020204030204" pitchFamily="34" charset="0"/>
              </a:rPr>
              <a:t>its </a:t>
            </a:r>
            <a:r>
              <a:rPr lang="en-US" sz="2800" dirty="0">
                <a:solidFill>
                  <a:srgbClr val="000000"/>
                </a:solidFill>
                <a:latin typeface="Calibri" panose="020F0502020204030204" pitchFamily="34" charset="0"/>
              </a:rPr>
              <a:t>contract (interface)</a:t>
            </a:r>
          </a:p>
          <a:p>
            <a:pPr marL="742950" lvl="1" indent="-285750" algn="l" rtl="0">
              <a:buFont typeface="Arial" panose="020B0604020202020204" pitchFamily="34" charset="0"/>
              <a:buChar char="•"/>
            </a:pPr>
            <a:r>
              <a:rPr lang="en-US" sz="2800" dirty="0" smtClean="0">
                <a:solidFill>
                  <a:srgbClr val="000000"/>
                </a:solidFill>
                <a:latin typeface="Calibri" panose="020F0502020204030204" pitchFamily="34" charset="0"/>
              </a:rPr>
              <a:t>its </a:t>
            </a:r>
            <a:r>
              <a:rPr lang="en-US" sz="2800" dirty="0">
                <a:solidFill>
                  <a:srgbClr val="000000"/>
                </a:solidFill>
                <a:latin typeface="Calibri" panose="020F0502020204030204" pitchFamily="34" charset="0"/>
              </a:rPr>
              <a:t>own deployment settings</a:t>
            </a:r>
          </a:p>
          <a:p>
            <a:pPr marL="742950" lvl="1" indent="-285750" algn="l" rtl="0">
              <a:buFont typeface="Arial" panose="020B0604020202020204" pitchFamily="34" charset="0"/>
              <a:buChar char="•"/>
            </a:pPr>
            <a:r>
              <a:rPr lang="en-US" sz="2800" dirty="0" smtClean="0">
                <a:solidFill>
                  <a:srgbClr val="000000"/>
                </a:solidFill>
                <a:latin typeface="Calibri" panose="020F0502020204030204" pitchFamily="34" charset="0"/>
              </a:rPr>
              <a:t>Its own </a:t>
            </a:r>
            <a:r>
              <a:rPr lang="en-US" sz="2800" dirty="0">
                <a:solidFill>
                  <a:srgbClr val="000000"/>
                </a:solidFill>
                <a:latin typeface="Calibri" panose="020F0502020204030204" pitchFamily="34" charset="0"/>
              </a:rPr>
              <a:t>container / server instance(s)</a:t>
            </a:r>
          </a:p>
        </p:txBody>
      </p:sp>
    </p:spTree>
    <p:extLst>
      <p:ext uri="{BB962C8B-B14F-4D97-AF65-F5344CB8AC3E}">
        <p14:creationId xmlns:p14="http://schemas.microsoft.com/office/powerpoint/2010/main" val="310708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408" y="1178287"/>
            <a:ext cx="8514272" cy="4462760"/>
          </a:xfrm>
          <a:prstGeom prst="rect">
            <a:avLst/>
          </a:prstGeom>
        </p:spPr>
        <p:txBody>
          <a:bodyPr wrap="square">
            <a:spAutoFit/>
          </a:bodyPr>
          <a:lstStyle/>
          <a:p>
            <a:pPr algn="l" rtl="0"/>
            <a:r>
              <a:rPr lang="en-US" sz="3200" b="1" dirty="0">
                <a:solidFill>
                  <a:srgbClr val="000000"/>
                </a:solidFill>
                <a:latin typeface="Calibri" panose="020F0502020204030204" pitchFamily="34" charset="0"/>
              </a:rPr>
              <a:t>Benefits</a:t>
            </a:r>
            <a:r>
              <a:rPr lang="en-US" sz="3200" dirty="0">
                <a:solidFill>
                  <a:srgbClr val="000000"/>
                </a:solidFill>
                <a:latin typeface="Calibri" panose="020F0502020204030204" pitchFamily="34" charset="0"/>
              </a:rPr>
              <a:t>:</a:t>
            </a:r>
          </a:p>
          <a:p>
            <a:pPr marL="457200" indent="-457200" algn="l" rtl="0">
              <a:buFont typeface="Arial" panose="020B0604020202020204" pitchFamily="34" charset="0"/>
              <a:buChar char="•"/>
            </a:pPr>
            <a:r>
              <a:rPr lang="en-US" sz="2800" dirty="0" smtClean="0">
                <a:solidFill>
                  <a:srgbClr val="000000"/>
                </a:solidFill>
                <a:latin typeface="Calibri" panose="020F0502020204030204" pitchFamily="34" charset="0"/>
              </a:rPr>
              <a:t>Each </a:t>
            </a:r>
            <a:r>
              <a:rPr lang="en-US" sz="2800" dirty="0">
                <a:solidFill>
                  <a:srgbClr val="000000"/>
                </a:solidFill>
                <a:latin typeface="Calibri" panose="020F0502020204030204" pitchFamily="34" charset="0"/>
              </a:rPr>
              <a:t>business component maintained separately </a:t>
            </a:r>
          </a:p>
          <a:p>
            <a:pPr marL="457200" indent="-457200" algn="l" rtl="0">
              <a:buFont typeface="Arial" panose="020B0604020202020204" pitchFamily="34" charset="0"/>
              <a:buChar char="•"/>
            </a:pPr>
            <a:r>
              <a:rPr lang="en-US" sz="2800" dirty="0" smtClean="0">
                <a:solidFill>
                  <a:srgbClr val="000000"/>
                </a:solidFill>
                <a:latin typeface="Calibri" panose="020F0502020204030204" pitchFamily="34" charset="0"/>
              </a:rPr>
              <a:t>Business </a:t>
            </a:r>
            <a:r>
              <a:rPr lang="en-US" sz="2800" dirty="0">
                <a:solidFill>
                  <a:srgbClr val="000000"/>
                </a:solidFill>
                <a:latin typeface="Calibri" panose="020F0502020204030204" pitchFamily="34" charset="0"/>
              </a:rPr>
              <a:t>flow based on services may use both internal and external business logic transparently </a:t>
            </a:r>
          </a:p>
          <a:p>
            <a:pPr marL="457200" indent="-457200" algn="l" rtl="0">
              <a:buFont typeface="Arial" panose="020B0604020202020204" pitchFamily="34" charset="0"/>
              <a:buChar char="•"/>
            </a:pPr>
            <a:r>
              <a:rPr lang="en-US" sz="2800" dirty="0" smtClean="0">
                <a:solidFill>
                  <a:srgbClr val="000000"/>
                </a:solidFill>
                <a:latin typeface="Calibri" panose="020F0502020204030204" pitchFamily="34" charset="0"/>
              </a:rPr>
              <a:t>Intensive </a:t>
            </a:r>
            <a:r>
              <a:rPr lang="en-US" sz="2800" dirty="0">
                <a:solidFill>
                  <a:srgbClr val="000000"/>
                </a:solidFill>
                <a:latin typeface="Calibri" panose="020F0502020204030204" pitchFamily="34" charset="0"/>
              </a:rPr>
              <a:t>releases and continuous developments are easier </a:t>
            </a:r>
          </a:p>
          <a:p>
            <a:pPr marL="457200" indent="-457200" algn="l" rtl="0">
              <a:buFont typeface="Arial" panose="020B0604020202020204" pitchFamily="34" charset="0"/>
              <a:buChar char="•"/>
            </a:pPr>
            <a:r>
              <a:rPr lang="en-US" sz="2800" dirty="0" smtClean="0">
                <a:solidFill>
                  <a:srgbClr val="000000"/>
                </a:solidFill>
                <a:latin typeface="Calibri" panose="020F0502020204030204" pitchFamily="34" charset="0"/>
              </a:rPr>
              <a:t>Service </a:t>
            </a:r>
            <a:r>
              <a:rPr lang="en-US" sz="2800" dirty="0">
                <a:solidFill>
                  <a:srgbClr val="000000"/>
                </a:solidFill>
                <a:latin typeface="Calibri" panose="020F0502020204030204" pitchFamily="34" charset="0"/>
              </a:rPr>
              <a:t>may count on multiple alternative services for failover </a:t>
            </a:r>
          </a:p>
          <a:p>
            <a:pPr marL="457200" indent="-457200" algn="l" rtl="0">
              <a:buFont typeface="Arial" panose="020B0604020202020204" pitchFamily="34" charset="0"/>
              <a:buChar char="•"/>
            </a:pPr>
            <a:r>
              <a:rPr lang="en-US" sz="2800" dirty="0" smtClean="0">
                <a:solidFill>
                  <a:srgbClr val="000000"/>
                </a:solidFill>
                <a:latin typeface="Calibri" panose="020F0502020204030204" pitchFamily="34" charset="0"/>
              </a:rPr>
              <a:t>Service </a:t>
            </a:r>
            <a:r>
              <a:rPr lang="en-US" sz="2800" dirty="0">
                <a:solidFill>
                  <a:srgbClr val="000000"/>
                </a:solidFill>
                <a:latin typeface="Calibri" panose="020F0502020204030204" pitchFamily="34" charset="0"/>
              </a:rPr>
              <a:t>deployment, availability and maintainability can be automated via DevOps tools </a:t>
            </a:r>
          </a:p>
        </p:txBody>
      </p:sp>
      <p:sp>
        <p:nvSpPr>
          <p:cNvPr id="3" name="Rectangle 2"/>
          <p:cNvSpPr/>
          <p:nvPr/>
        </p:nvSpPr>
        <p:spPr>
          <a:xfrm>
            <a:off x="293298" y="78440"/>
            <a:ext cx="3383235" cy="830997"/>
          </a:xfrm>
          <a:prstGeom prst="rect">
            <a:avLst/>
          </a:prstGeom>
        </p:spPr>
        <p:txBody>
          <a:bodyPr wrap="none">
            <a:spAutoFit/>
          </a:bodyPr>
          <a:lstStyle/>
          <a:p>
            <a:pPr algn="ctr" rtl="0"/>
            <a:r>
              <a:rPr lang="en-US" sz="4800" spc="-150" dirty="0">
                <a:cs typeface="OronMF" pitchFamily="2" charset="-79"/>
              </a:rPr>
              <a:t>Microservices</a:t>
            </a:r>
            <a:endParaRPr lang="he-IL" sz="4800" spc="-150" dirty="0">
              <a:cs typeface="OronMF" pitchFamily="2" charset="-79"/>
            </a:endParaRPr>
          </a:p>
        </p:txBody>
      </p:sp>
    </p:spTree>
    <p:extLst>
      <p:ext uri="{BB962C8B-B14F-4D97-AF65-F5344CB8AC3E}">
        <p14:creationId xmlns:p14="http://schemas.microsoft.com/office/powerpoint/2010/main" val="3523161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i.imgflip.com/3g90az.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9371" y="1493836"/>
            <a:ext cx="6353175" cy="3562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311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3769" y="1213339"/>
            <a:ext cx="8535174" cy="4278094"/>
          </a:xfrm>
          <a:prstGeom prst="rect">
            <a:avLst/>
          </a:prstGeom>
        </p:spPr>
        <p:txBody>
          <a:bodyPr wrap="square">
            <a:spAutoFit/>
          </a:bodyPr>
          <a:lstStyle/>
          <a:p>
            <a:pPr algn="l" rtl="0"/>
            <a:r>
              <a:rPr lang="en-US" sz="3200" b="1" dirty="0">
                <a:solidFill>
                  <a:srgbClr val="000000"/>
                </a:solidFill>
                <a:latin typeface="Calibri" panose="020F0502020204030204" pitchFamily="34" charset="0"/>
              </a:rPr>
              <a:t>Drawbacks:</a:t>
            </a:r>
          </a:p>
          <a:p>
            <a:pPr marL="457200" indent="-457200" algn="l" rtl="0">
              <a:buFont typeface="Arial" panose="020B0604020202020204" pitchFamily="34" charset="0"/>
              <a:buChar char="•"/>
            </a:pPr>
            <a:r>
              <a:rPr lang="en-US" sz="2400" dirty="0" smtClean="0">
                <a:solidFill>
                  <a:srgbClr val="000000"/>
                </a:solidFill>
                <a:latin typeface="Calibri" panose="020F0502020204030204" pitchFamily="34" charset="0"/>
              </a:rPr>
              <a:t>Intensive </a:t>
            </a:r>
            <a:r>
              <a:rPr lang="en-US" sz="2400" dirty="0">
                <a:solidFill>
                  <a:srgbClr val="000000"/>
                </a:solidFill>
                <a:latin typeface="Calibri" panose="020F0502020204030204" pitchFamily="34" charset="0"/>
              </a:rPr>
              <a:t>HTTP communication (still text based…)</a:t>
            </a:r>
          </a:p>
          <a:p>
            <a:pPr marL="457200" indent="-457200" algn="l" rtl="0">
              <a:buFont typeface="Arial" panose="020B0604020202020204" pitchFamily="34" charset="0"/>
              <a:buChar char="•"/>
            </a:pPr>
            <a:r>
              <a:rPr lang="en-US" sz="2400" dirty="0" smtClean="0">
                <a:solidFill>
                  <a:srgbClr val="000000"/>
                </a:solidFill>
                <a:latin typeface="Calibri" panose="020F0502020204030204" pitchFamily="34" charset="0"/>
              </a:rPr>
              <a:t>Going </a:t>
            </a:r>
            <a:r>
              <a:rPr lang="en-US" sz="2400" dirty="0">
                <a:solidFill>
                  <a:srgbClr val="000000"/>
                </a:solidFill>
                <a:latin typeface="Calibri" panose="020F0502020204030204" pitchFamily="34" charset="0"/>
              </a:rPr>
              <a:t>stateless? </a:t>
            </a:r>
            <a:r>
              <a:rPr lang="en-US" sz="2400" dirty="0">
                <a:solidFill>
                  <a:srgbClr val="000000"/>
                </a:solidFill>
                <a:latin typeface="Calibri" panose="020F0502020204030204" pitchFamily="34" charset="0"/>
              </a:rPr>
              <a:t>Not always… and then what?</a:t>
            </a:r>
          </a:p>
          <a:p>
            <a:pPr marL="457200" indent="-457200" algn="l" rtl="0">
              <a:buFont typeface="Arial" panose="020B0604020202020204" pitchFamily="34" charset="0"/>
              <a:buChar char="•"/>
            </a:pPr>
            <a:r>
              <a:rPr lang="en-US" sz="2400" dirty="0" smtClean="0">
                <a:solidFill>
                  <a:srgbClr val="000000"/>
                </a:solidFill>
                <a:latin typeface="Calibri" panose="020F0502020204030204" pitchFamily="34" charset="0"/>
              </a:rPr>
              <a:t>2-phase </a:t>
            </a:r>
            <a:r>
              <a:rPr lang="en-US" sz="2400" dirty="0">
                <a:solidFill>
                  <a:srgbClr val="000000"/>
                </a:solidFill>
                <a:latin typeface="Calibri" panose="020F0502020204030204" pitchFamily="34" charset="0"/>
              </a:rPr>
              <a:t>commit is not supported in any </a:t>
            </a:r>
            <a:r>
              <a:rPr lang="en-US" sz="2400" dirty="0" err="1">
                <a:solidFill>
                  <a:srgbClr val="000000"/>
                </a:solidFill>
                <a:latin typeface="Calibri" panose="020F0502020204030204" pitchFamily="34" charset="0"/>
              </a:rPr>
              <a:t>microservice</a:t>
            </a:r>
            <a:r>
              <a:rPr lang="en-US" sz="2400" dirty="0">
                <a:solidFill>
                  <a:srgbClr val="000000"/>
                </a:solidFill>
                <a:latin typeface="Calibri" panose="020F0502020204030204" pitchFamily="34" charset="0"/>
              </a:rPr>
              <a:t>–so can’t be used… </a:t>
            </a:r>
          </a:p>
          <a:p>
            <a:pPr marL="457200" indent="-457200" algn="l" rtl="0">
              <a:buFont typeface="Arial" panose="020B0604020202020204" pitchFamily="34" charset="0"/>
              <a:buChar char="•"/>
            </a:pPr>
            <a:r>
              <a:rPr lang="en-US" sz="2400" dirty="0" smtClean="0">
                <a:solidFill>
                  <a:srgbClr val="000000"/>
                </a:solidFill>
                <a:latin typeface="Calibri" panose="020F0502020204030204" pitchFamily="34" charset="0"/>
              </a:rPr>
              <a:t>Higher </a:t>
            </a:r>
            <a:r>
              <a:rPr lang="en-US" sz="2400" dirty="0">
                <a:solidFill>
                  <a:srgbClr val="000000"/>
                </a:solidFill>
                <a:latin typeface="Calibri" panose="020F0502020204030204" pitchFamily="34" charset="0"/>
              </a:rPr>
              <a:t>costs –each </a:t>
            </a:r>
            <a:r>
              <a:rPr lang="en-US" sz="2400" dirty="0" err="1">
                <a:solidFill>
                  <a:srgbClr val="000000"/>
                </a:solidFill>
                <a:latin typeface="Calibri" panose="020F0502020204030204" pitchFamily="34" charset="0"/>
              </a:rPr>
              <a:t>microservicecomes</a:t>
            </a:r>
            <a:r>
              <a:rPr lang="en-US" sz="2400" dirty="0">
                <a:solidFill>
                  <a:srgbClr val="000000"/>
                </a:solidFill>
                <a:latin typeface="Calibri" panose="020F0502020204030204" pitchFamily="34" charset="0"/>
              </a:rPr>
              <a:t> with its infrastructure….</a:t>
            </a:r>
          </a:p>
          <a:p>
            <a:pPr marL="457200" indent="-457200" algn="l" rtl="0">
              <a:buFont typeface="Arial" panose="020B0604020202020204" pitchFamily="34" charset="0"/>
              <a:buChar char="•"/>
            </a:pPr>
            <a:r>
              <a:rPr lang="en-US" sz="2400" dirty="0" smtClean="0">
                <a:solidFill>
                  <a:srgbClr val="000000"/>
                </a:solidFill>
                <a:latin typeface="Calibri" panose="020F0502020204030204" pitchFamily="34" charset="0"/>
              </a:rPr>
              <a:t>When </a:t>
            </a:r>
            <a:r>
              <a:rPr lang="en-US" sz="2400" dirty="0" err="1">
                <a:solidFill>
                  <a:srgbClr val="000000"/>
                </a:solidFill>
                <a:latin typeface="Calibri" panose="020F0502020204030204" pitchFamily="34" charset="0"/>
              </a:rPr>
              <a:t>microservicesspan</a:t>
            </a:r>
            <a:r>
              <a:rPr lang="en-US" sz="2400" dirty="0">
                <a:solidFill>
                  <a:srgbClr val="000000"/>
                </a:solidFill>
                <a:latin typeface="Calibri" panose="020F0502020204030204" pitchFamily="34" charset="0"/>
              </a:rPr>
              <a:t> over different systems or divisions few challenges emerges: </a:t>
            </a:r>
            <a:endParaRPr lang="en-IL" sz="2400" b="1" dirty="0">
              <a:solidFill>
                <a:srgbClr val="000000"/>
              </a:solidFill>
              <a:latin typeface="Calibri" panose="020F0502020204030204" pitchFamily="34" charset="0"/>
            </a:endParaRPr>
          </a:p>
          <a:p>
            <a:pPr marL="1257300" lvl="2" indent="-342900" algn="l" rtl="0">
              <a:buFont typeface="Arial" panose="020B0604020202020204" pitchFamily="34" charset="0"/>
              <a:buChar char="•"/>
            </a:pPr>
            <a:r>
              <a:rPr lang="en-US" sz="2400" dirty="0">
                <a:solidFill>
                  <a:srgbClr val="000000"/>
                </a:solidFill>
                <a:latin typeface="Calibri" panose="020F0502020204030204" pitchFamily="34" charset="0"/>
              </a:rPr>
              <a:t>Team communication</a:t>
            </a:r>
          </a:p>
          <a:p>
            <a:pPr marL="1257300" lvl="2" indent="-342900" algn="l" rtl="0">
              <a:buFont typeface="Arial" panose="020B0604020202020204" pitchFamily="34" charset="0"/>
              <a:buChar char="•"/>
            </a:pPr>
            <a:r>
              <a:rPr lang="en-US" sz="2400" dirty="0">
                <a:solidFill>
                  <a:srgbClr val="000000"/>
                </a:solidFill>
                <a:latin typeface="Calibri" panose="020F0502020204030204" pitchFamily="34" charset="0"/>
              </a:rPr>
              <a:t>Need in good documentation</a:t>
            </a:r>
          </a:p>
          <a:p>
            <a:pPr marL="1257300" lvl="2" indent="-342900" algn="l" rtl="0">
              <a:buFont typeface="Arial" panose="020B0604020202020204" pitchFamily="34" charset="0"/>
              <a:buChar char="•"/>
            </a:pPr>
            <a:r>
              <a:rPr lang="en-US" sz="2400" dirty="0">
                <a:solidFill>
                  <a:srgbClr val="000000"/>
                </a:solidFill>
                <a:latin typeface="Calibri" panose="020F0502020204030204" pitchFamily="34" charset="0"/>
              </a:rPr>
              <a:t>Testing is hard when more than single service is involved </a:t>
            </a:r>
          </a:p>
        </p:txBody>
      </p:sp>
      <p:sp>
        <p:nvSpPr>
          <p:cNvPr id="3" name="Rectangle 2"/>
          <p:cNvSpPr/>
          <p:nvPr/>
        </p:nvSpPr>
        <p:spPr>
          <a:xfrm>
            <a:off x="293298" y="78440"/>
            <a:ext cx="3383235" cy="830997"/>
          </a:xfrm>
          <a:prstGeom prst="rect">
            <a:avLst/>
          </a:prstGeom>
        </p:spPr>
        <p:txBody>
          <a:bodyPr wrap="none">
            <a:spAutoFit/>
          </a:bodyPr>
          <a:lstStyle/>
          <a:p>
            <a:pPr algn="ctr" rtl="0"/>
            <a:r>
              <a:rPr lang="en-US" sz="4800" spc="-150" dirty="0">
                <a:cs typeface="OronMF" pitchFamily="2" charset="-79"/>
              </a:rPr>
              <a:t>Microservices</a:t>
            </a:r>
            <a:endParaRPr lang="he-IL" sz="4800" spc="-150" dirty="0">
              <a:cs typeface="OronMF" pitchFamily="2" charset="-79"/>
            </a:endParaRPr>
          </a:p>
        </p:txBody>
      </p:sp>
    </p:spTree>
    <p:extLst>
      <p:ext uri="{BB962C8B-B14F-4D97-AF65-F5344CB8AC3E}">
        <p14:creationId xmlns:p14="http://schemas.microsoft.com/office/powerpoint/2010/main" val="3222403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3902" y="1255231"/>
            <a:ext cx="8462513" cy="4647426"/>
          </a:xfrm>
          <a:prstGeom prst="rect">
            <a:avLst/>
          </a:prstGeom>
        </p:spPr>
        <p:txBody>
          <a:bodyPr wrap="square">
            <a:spAutoFit/>
          </a:bodyPr>
          <a:lstStyle/>
          <a:p>
            <a:pPr algn="l" rtl="0"/>
            <a:r>
              <a:rPr lang="en-US" sz="3200" b="1" dirty="0">
                <a:solidFill>
                  <a:srgbClr val="000000"/>
                </a:solidFill>
                <a:latin typeface="Calibri" panose="020F0502020204030204" pitchFamily="34" charset="0"/>
              </a:rPr>
              <a:t>Best practices:</a:t>
            </a:r>
          </a:p>
          <a:p>
            <a:pPr marL="285750" indent="-285750" algn="l" rtl="0">
              <a:buFont typeface="Arial" panose="020B0604020202020204" pitchFamily="34" charset="0"/>
              <a:buChar char="•"/>
            </a:pPr>
            <a:r>
              <a:rPr lang="it-IT" sz="2400" dirty="0">
                <a:solidFill>
                  <a:srgbClr val="000000"/>
                </a:solidFill>
                <a:latin typeface="Calibri" panose="020F0502020204030204" pitchFamily="34" charset="0"/>
              </a:rPr>
              <a:t>Create </a:t>
            </a:r>
            <a:r>
              <a:rPr lang="it-IT" sz="2400" dirty="0">
                <a:solidFill>
                  <a:srgbClr val="000000"/>
                </a:solidFill>
                <a:latin typeface="Calibri" panose="020F0502020204030204" pitchFamily="34" charset="0"/>
              </a:rPr>
              <a:t>separate data-store per microservice</a:t>
            </a: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Provide </a:t>
            </a:r>
            <a:r>
              <a:rPr lang="en-US" sz="2400" dirty="0">
                <a:solidFill>
                  <a:srgbClr val="000000"/>
                </a:solidFill>
                <a:latin typeface="Calibri" panose="020F0502020204030204" pitchFamily="34" charset="0"/>
              </a:rPr>
              <a:t>global data management system </a:t>
            </a: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Runs </a:t>
            </a:r>
            <a:r>
              <a:rPr lang="en-US" sz="2400" dirty="0">
                <a:solidFill>
                  <a:srgbClr val="000000"/>
                </a:solidFill>
                <a:latin typeface="Calibri" panose="020F0502020204030204" pitchFamily="34" charset="0"/>
              </a:rPr>
              <a:t>in the backgrounds</a:t>
            </a: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Fixes </a:t>
            </a:r>
            <a:r>
              <a:rPr lang="en-US" sz="2400" dirty="0">
                <a:solidFill>
                  <a:srgbClr val="000000"/>
                </a:solidFill>
                <a:latin typeface="Calibri" panose="020F0502020204030204" pitchFamily="34" charset="0"/>
              </a:rPr>
              <a:t>data inconsistencies</a:t>
            </a: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Update </a:t>
            </a:r>
            <a:r>
              <a:rPr lang="en-US" sz="2400" dirty="0">
                <a:solidFill>
                  <a:srgbClr val="000000"/>
                </a:solidFill>
                <a:latin typeface="Calibri" panose="020F0502020204030204" pitchFamily="34" charset="0"/>
              </a:rPr>
              <a:t>code by creating a new </a:t>
            </a:r>
            <a:r>
              <a:rPr lang="en-US" sz="2400" dirty="0" err="1">
                <a:solidFill>
                  <a:srgbClr val="000000"/>
                </a:solidFill>
                <a:latin typeface="Calibri" panose="020F0502020204030204" pitchFamily="34" charset="0"/>
              </a:rPr>
              <a:t>microservice</a:t>
            </a:r>
            <a:endParaRPr lang="en-US" sz="2400" dirty="0">
              <a:solidFill>
                <a:srgbClr val="000000"/>
              </a:solidFill>
              <a:latin typeface="Calibri" panose="020F0502020204030204" pitchFamily="34" charset="0"/>
            </a:endParaRP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Combine </a:t>
            </a:r>
            <a:r>
              <a:rPr lang="en-US" sz="2400" dirty="0">
                <a:solidFill>
                  <a:srgbClr val="000000"/>
                </a:solidFill>
                <a:latin typeface="Calibri" panose="020F0502020204030204" pitchFamily="34" charset="0"/>
              </a:rPr>
              <a:t>with version control</a:t>
            </a: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Use </a:t>
            </a:r>
            <a:r>
              <a:rPr lang="en-US" sz="2400" dirty="0">
                <a:solidFill>
                  <a:srgbClr val="000000"/>
                </a:solidFill>
                <a:latin typeface="Calibri" panose="020F0502020204030204" pitchFamily="34" charset="0"/>
              </a:rPr>
              <a:t>separate builds for each service</a:t>
            </a: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Run </a:t>
            </a:r>
            <a:r>
              <a:rPr lang="en-US" sz="2400" dirty="0">
                <a:solidFill>
                  <a:srgbClr val="000000"/>
                </a:solidFill>
                <a:latin typeface="Calibri" panose="020F0502020204030204" pitchFamily="34" charset="0"/>
              </a:rPr>
              <a:t>services in containers. Container is NOT a services</a:t>
            </a: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Keep </a:t>
            </a:r>
            <a:r>
              <a:rPr lang="en-US" sz="2400" dirty="0">
                <a:solidFill>
                  <a:srgbClr val="000000"/>
                </a:solidFill>
                <a:latin typeface="Calibri" panose="020F0502020204030204" pitchFamily="34" charset="0"/>
              </a:rPr>
              <a:t>server configuration plain when administrating </a:t>
            </a:r>
            <a:r>
              <a:rPr lang="en-US" sz="2400" dirty="0" err="1">
                <a:solidFill>
                  <a:srgbClr val="000000"/>
                </a:solidFill>
                <a:latin typeface="Calibri" panose="020F0502020204030204" pitchFamily="34" charset="0"/>
              </a:rPr>
              <a:t>microservices</a:t>
            </a:r>
            <a:endParaRPr lang="en-US" sz="2400" dirty="0">
              <a:solidFill>
                <a:srgbClr val="000000"/>
              </a:solidFill>
              <a:latin typeface="Calibri" panose="020F0502020204030204" pitchFamily="34" charset="0"/>
            </a:endParaRPr>
          </a:p>
          <a:p>
            <a:pPr marL="285750" indent="-285750" algn="l" rtl="0">
              <a:buFont typeface="Arial" panose="020B0604020202020204" pitchFamily="34" charset="0"/>
              <a:buChar char="•"/>
            </a:pPr>
            <a:r>
              <a:rPr lang="en-US" sz="2400" dirty="0">
                <a:solidFill>
                  <a:srgbClr val="000000"/>
                </a:solidFill>
                <a:latin typeface="Calibri" panose="020F0502020204030204" pitchFamily="34" charset="0"/>
              </a:rPr>
              <a:t>Any </a:t>
            </a:r>
            <a:r>
              <a:rPr lang="en-US" sz="2400" dirty="0">
                <a:solidFill>
                  <a:srgbClr val="000000"/>
                </a:solidFill>
                <a:latin typeface="Calibri" panose="020F0502020204030204" pitchFamily="34" charset="0"/>
              </a:rPr>
              <a:t>complex configuration should be set internally by the server</a:t>
            </a:r>
          </a:p>
        </p:txBody>
      </p:sp>
      <p:sp>
        <p:nvSpPr>
          <p:cNvPr id="3" name="Rectangle 2"/>
          <p:cNvSpPr/>
          <p:nvPr/>
        </p:nvSpPr>
        <p:spPr>
          <a:xfrm>
            <a:off x="293298" y="78440"/>
            <a:ext cx="3383235" cy="830997"/>
          </a:xfrm>
          <a:prstGeom prst="rect">
            <a:avLst/>
          </a:prstGeom>
        </p:spPr>
        <p:txBody>
          <a:bodyPr wrap="none">
            <a:spAutoFit/>
          </a:bodyPr>
          <a:lstStyle/>
          <a:p>
            <a:pPr algn="ctr" rtl="0"/>
            <a:r>
              <a:rPr lang="en-US" sz="4800" spc="-150" dirty="0">
                <a:cs typeface="OronMF" pitchFamily="2" charset="-79"/>
              </a:rPr>
              <a:t>Microservices</a:t>
            </a:r>
            <a:endParaRPr lang="he-IL" sz="4800" spc="-150" dirty="0">
              <a:cs typeface="OronMF" pitchFamily="2" charset="-79"/>
            </a:endParaRPr>
          </a:p>
        </p:txBody>
      </p:sp>
    </p:spTree>
    <p:extLst>
      <p:ext uri="{BB962C8B-B14F-4D97-AF65-F5344CB8AC3E}">
        <p14:creationId xmlns:p14="http://schemas.microsoft.com/office/powerpoint/2010/main" val="237219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6815" y="1232344"/>
            <a:ext cx="6573328" cy="2970044"/>
          </a:xfrm>
          <a:prstGeom prst="rect">
            <a:avLst/>
          </a:prstGeom>
        </p:spPr>
        <p:txBody>
          <a:bodyPr wrap="square">
            <a:spAutoFit/>
          </a:bodyPr>
          <a:lstStyle/>
          <a:p>
            <a:pPr marL="171450" indent="-171450" algn="r" rtl="0">
              <a:buFont typeface="Arial" panose="020B0604020202020204" pitchFamily="34" charset="0"/>
              <a:buChar char="•"/>
            </a:pPr>
            <a:endParaRPr lang="en-IL" sz="1200" dirty="0">
              <a:solidFill>
                <a:srgbClr val="000000"/>
              </a:solidFill>
              <a:latin typeface="Arial" panose="020B0604020202020204" pitchFamily="34" charset="0"/>
            </a:endParaRPr>
          </a:p>
          <a:p>
            <a:pPr marL="342900" indent="-342900" algn="l" rtl="0">
              <a:buFont typeface="Arial" panose="020B0604020202020204" pitchFamily="34" charset="0"/>
              <a:buChar char="•"/>
            </a:pPr>
            <a:r>
              <a:rPr lang="en-US" sz="2500" dirty="0" smtClean="0">
                <a:solidFill>
                  <a:srgbClr val="000000"/>
                </a:solidFill>
                <a:latin typeface="Calibri" panose="020F0502020204030204" pitchFamily="34" charset="0"/>
              </a:rPr>
              <a:t>Distributed/versioned </a:t>
            </a:r>
            <a:r>
              <a:rPr lang="en-US" sz="2500" dirty="0">
                <a:solidFill>
                  <a:srgbClr val="000000"/>
                </a:solidFill>
                <a:latin typeface="Calibri" panose="020F0502020204030204" pitchFamily="34" charset="0"/>
              </a:rPr>
              <a:t>configuration</a:t>
            </a:r>
          </a:p>
          <a:p>
            <a:pPr marL="342900" indent="-342900" algn="l" rtl="0">
              <a:buFont typeface="Arial" panose="020B0604020202020204" pitchFamily="34" charset="0"/>
              <a:buChar char="•"/>
            </a:pPr>
            <a:r>
              <a:rPr lang="en-US" sz="2500" dirty="0" smtClean="0">
                <a:solidFill>
                  <a:srgbClr val="000000"/>
                </a:solidFill>
                <a:latin typeface="Calibri" panose="020F0502020204030204" pitchFamily="34" charset="0"/>
              </a:rPr>
              <a:t>Service </a:t>
            </a:r>
            <a:r>
              <a:rPr lang="en-US" sz="2500" dirty="0">
                <a:solidFill>
                  <a:srgbClr val="000000"/>
                </a:solidFill>
                <a:latin typeface="Calibri" panose="020F0502020204030204" pitchFamily="34" charset="0"/>
              </a:rPr>
              <a:t>registration and discovery</a:t>
            </a:r>
          </a:p>
          <a:p>
            <a:pPr marL="342900" indent="-342900" algn="l" rtl="0">
              <a:buFont typeface="Arial" panose="020B0604020202020204" pitchFamily="34" charset="0"/>
              <a:buChar char="•"/>
            </a:pPr>
            <a:r>
              <a:rPr lang="en-US" sz="2500" dirty="0" smtClean="0">
                <a:solidFill>
                  <a:srgbClr val="000000"/>
                </a:solidFill>
                <a:latin typeface="Calibri" panose="020F0502020204030204" pitchFamily="34" charset="0"/>
              </a:rPr>
              <a:t>Routing</a:t>
            </a:r>
            <a:endParaRPr lang="en-US" sz="2500" dirty="0">
              <a:solidFill>
                <a:srgbClr val="000000"/>
              </a:solidFill>
              <a:latin typeface="Calibri" panose="020F0502020204030204" pitchFamily="34" charset="0"/>
            </a:endParaRPr>
          </a:p>
          <a:p>
            <a:pPr marL="342900" indent="-342900" algn="l" rtl="0">
              <a:buFont typeface="Arial" panose="020B0604020202020204" pitchFamily="34" charset="0"/>
              <a:buChar char="•"/>
            </a:pPr>
            <a:r>
              <a:rPr lang="en-US" sz="2500" dirty="0" smtClean="0">
                <a:solidFill>
                  <a:srgbClr val="000000"/>
                </a:solidFill>
                <a:latin typeface="Calibri" panose="020F0502020204030204" pitchFamily="34" charset="0"/>
              </a:rPr>
              <a:t>Service-to-service </a:t>
            </a:r>
            <a:r>
              <a:rPr lang="en-US" sz="2500" dirty="0">
                <a:solidFill>
                  <a:srgbClr val="000000"/>
                </a:solidFill>
                <a:latin typeface="Calibri" panose="020F0502020204030204" pitchFamily="34" charset="0"/>
              </a:rPr>
              <a:t>calls</a:t>
            </a:r>
          </a:p>
          <a:p>
            <a:pPr marL="342900" indent="-342900" algn="l" rtl="0">
              <a:buFont typeface="Arial" panose="020B0604020202020204" pitchFamily="34" charset="0"/>
              <a:buChar char="•"/>
            </a:pPr>
            <a:r>
              <a:rPr lang="en-US" sz="2500" dirty="0" smtClean="0">
                <a:solidFill>
                  <a:srgbClr val="000000"/>
                </a:solidFill>
                <a:latin typeface="Calibri" panose="020F0502020204030204" pitchFamily="34" charset="0"/>
              </a:rPr>
              <a:t>Load </a:t>
            </a:r>
            <a:r>
              <a:rPr lang="en-US" sz="2500" dirty="0">
                <a:solidFill>
                  <a:srgbClr val="000000"/>
                </a:solidFill>
                <a:latin typeface="Calibri" panose="020F0502020204030204" pitchFamily="34" charset="0"/>
              </a:rPr>
              <a:t>balancing</a:t>
            </a:r>
          </a:p>
          <a:p>
            <a:pPr marL="342900" indent="-342900" algn="l" rtl="0">
              <a:buFont typeface="Arial" panose="020B0604020202020204" pitchFamily="34" charset="0"/>
              <a:buChar char="•"/>
            </a:pPr>
            <a:r>
              <a:rPr lang="en-US" sz="2500" dirty="0" smtClean="0">
                <a:solidFill>
                  <a:srgbClr val="000000"/>
                </a:solidFill>
                <a:latin typeface="Calibri" panose="020F0502020204030204" pitchFamily="34" charset="0"/>
              </a:rPr>
              <a:t>Circuit </a:t>
            </a:r>
            <a:r>
              <a:rPr lang="en-US" sz="2500" dirty="0">
                <a:solidFill>
                  <a:srgbClr val="000000"/>
                </a:solidFill>
                <a:latin typeface="Calibri" panose="020F0502020204030204" pitchFamily="34" charset="0"/>
              </a:rPr>
              <a:t>Breakers</a:t>
            </a:r>
          </a:p>
          <a:p>
            <a:pPr marL="342900" indent="-342900" algn="l" rtl="0">
              <a:buFont typeface="Arial" panose="020B0604020202020204" pitchFamily="34" charset="0"/>
              <a:buChar char="•"/>
            </a:pPr>
            <a:r>
              <a:rPr lang="en-US" sz="2500" dirty="0" smtClean="0">
                <a:solidFill>
                  <a:srgbClr val="000000"/>
                </a:solidFill>
                <a:latin typeface="Calibri" panose="020F0502020204030204" pitchFamily="34" charset="0"/>
              </a:rPr>
              <a:t>Distributed </a:t>
            </a:r>
            <a:r>
              <a:rPr lang="en-US" sz="2500" dirty="0">
                <a:solidFill>
                  <a:srgbClr val="000000"/>
                </a:solidFill>
                <a:latin typeface="Calibri" panose="020F0502020204030204" pitchFamily="34" charset="0"/>
              </a:rPr>
              <a:t>messaging</a:t>
            </a:r>
          </a:p>
        </p:txBody>
      </p:sp>
      <p:sp>
        <p:nvSpPr>
          <p:cNvPr id="5" name="Rectangle 4"/>
          <p:cNvSpPr/>
          <p:nvPr/>
        </p:nvSpPr>
        <p:spPr>
          <a:xfrm>
            <a:off x="-860701" y="78440"/>
            <a:ext cx="7615184" cy="830997"/>
          </a:xfrm>
          <a:prstGeom prst="rect">
            <a:avLst/>
          </a:prstGeom>
        </p:spPr>
        <p:txBody>
          <a:bodyPr wrap="square">
            <a:spAutoFit/>
          </a:bodyPr>
          <a:lstStyle/>
          <a:p>
            <a:pPr algn="ctr" rtl="0"/>
            <a:r>
              <a:rPr lang="en-US" sz="4800" spc="-150" dirty="0" smtClean="0">
                <a:cs typeface="OronMF" pitchFamily="2" charset="-79"/>
              </a:rPr>
              <a:t>Microservices - features</a:t>
            </a:r>
            <a:endParaRPr lang="he-IL" sz="4800" spc="-150" dirty="0">
              <a:cs typeface="OronMF" pitchFamily="2" charset="-79"/>
            </a:endParaRPr>
          </a:p>
        </p:txBody>
      </p:sp>
    </p:spTree>
    <p:extLst>
      <p:ext uri="{BB962C8B-B14F-4D97-AF65-F5344CB8AC3E}">
        <p14:creationId xmlns:p14="http://schemas.microsoft.com/office/powerpoint/2010/main" val="2843518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8120" y="75665"/>
            <a:ext cx="9159312" cy="769441"/>
          </a:xfrm>
          <a:prstGeom prst="rect">
            <a:avLst/>
          </a:prstGeom>
        </p:spPr>
        <p:txBody>
          <a:bodyPr wrap="square">
            <a:spAutoFit/>
          </a:bodyPr>
          <a:lstStyle/>
          <a:p>
            <a:pPr algn="ctr" rtl="0"/>
            <a:r>
              <a:rPr lang="en-US" sz="4400" spc="-150" dirty="0" smtClean="0">
                <a:cs typeface="OronMF" pitchFamily="2" charset="-79"/>
              </a:rPr>
              <a:t>Microservices </a:t>
            </a:r>
            <a:r>
              <a:rPr lang="en-IL" sz="4400" spc="-150" dirty="0" smtClean="0">
                <a:cs typeface="OronMF" pitchFamily="2" charset="-79"/>
              </a:rPr>
              <a:t>–</a:t>
            </a:r>
            <a:r>
              <a:rPr lang="en-US" sz="4400" spc="-150" dirty="0" smtClean="0">
                <a:cs typeface="OronMF" pitchFamily="2" charset="-79"/>
              </a:rPr>
              <a:t> Sync messages</a:t>
            </a:r>
            <a:endParaRPr lang="he-IL" sz="4400" spc="-150" dirty="0">
              <a:cs typeface="OronMF" pitchFamily="2" charset="-79"/>
            </a:endParaRPr>
          </a:p>
        </p:txBody>
      </p:sp>
      <p:sp>
        <p:nvSpPr>
          <p:cNvPr id="3" name="Rectangle 2"/>
          <p:cNvSpPr/>
          <p:nvPr/>
        </p:nvSpPr>
        <p:spPr>
          <a:xfrm>
            <a:off x="284670" y="1239192"/>
            <a:ext cx="8367623" cy="1754326"/>
          </a:xfrm>
          <a:prstGeom prst="rect">
            <a:avLst/>
          </a:prstGeom>
        </p:spPr>
        <p:txBody>
          <a:bodyPr wrap="square">
            <a:spAutoFit/>
          </a:bodyPr>
          <a:lstStyle/>
          <a:p>
            <a:pPr algn="l" rtl="0"/>
            <a:r>
              <a:rPr lang="en-US" dirty="0">
                <a:solidFill>
                  <a:srgbClr val="171717"/>
                </a:solidFill>
                <a:latin typeface="Segoe UI" panose="020B0502040204020203" pitchFamily="34" charset="0"/>
              </a:rPr>
              <a:t>HTTP is a synchronous protocol. The client sends a request and waits for a response from the service. That's independent of the client code execution that could be synchronous (thread is blocked) or asynchronous (thread isn't blocked, and the response will reach a callback eventually). The important point here is that the protocol (HTTP/HTTPS) </a:t>
            </a:r>
            <a:r>
              <a:rPr lang="en-US" dirty="0" smtClean="0">
                <a:solidFill>
                  <a:srgbClr val="171717"/>
                </a:solidFill>
                <a:latin typeface="Segoe UI" panose="020B0502040204020203" pitchFamily="34" charset="0"/>
              </a:rPr>
              <a:t>is </a:t>
            </a:r>
            <a:r>
              <a:rPr lang="en-US" dirty="0"/>
              <a:t>synchronous and the client code can only continue its task when it receives the HTTP server response.</a:t>
            </a:r>
            <a:endParaRPr lang="en-US" dirty="0"/>
          </a:p>
        </p:txBody>
      </p:sp>
      <p:pic>
        <p:nvPicPr>
          <p:cNvPr id="4" name="Picture 3"/>
          <p:cNvPicPr>
            <a:picLocks noChangeAspect="1"/>
          </p:cNvPicPr>
          <p:nvPr/>
        </p:nvPicPr>
        <p:blipFill>
          <a:blip r:embed="rId2"/>
          <a:stretch>
            <a:fillRect/>
          </a:stretch>
        </p:blipFill>
        <p:spPr>
          <a:xfrm>
            <a:off x="1434501" y="3500528"/>
            <a:ext cx="5067300" cy="1409700"/>
          </a:xfrm>
          <a:prstGeom prst="rect">
            <a:avLst/>
          </a:prstGeom>
        </p:spPr>
      </p:pic>
    </p:spTree>
    <p:extLst>
      <p:ext uri="{BB962C8B-B14F-4D97-AF65-F5344CB8AC3E}">
        <p14:creationId xmlns:p14="http://schemas.microsoft.com/office/powerpoint/2010/main" val="3442050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8120" y="75665"/>
            <a:ext cx="9159312" cy="769441"/>
          </a:xfrm>
          <a:prstGeom prst="rect">
            <a:avLst/>
          </a:prstGeom>
        </p:spPr>
        <p:txBody>
          <a:bodyPr wrap="square">
            <a:spAutoFit/>
          </a:bodyPr>
          <a:lstStyle/>
          <a:p>
            <a:pPr algn="ctr" rtl="0"/>
            <a:r>
              <a:rPr lang="en-US" sz="4400" spc="-150" dirty="0" smtClean="0">
                <a:cs typeface="OronMF" pitchFamily="2" charset="-79"/>
              </a:rPr>
              <a:t>Microservices </a:t>
            </a:r>
            <a:r>
              <a:rPr lang="en-IL" sz="4400" spc="-150" dirty="0" smtClean="0">
                <a:cs typeface="OronMF" pitchFamily="2" charset="-79"/>
              </a:rPr>
              <a:t>–</a:t>
            </a:r>
            <a:r>
              <a:rPr lang="en-US" sz="4400" spc="-150" dirty="0" smtClean="0">
                <a:cs typeface="OronMF" pitchFamily="2" charset="-79"/>
              </a:rPr>
              <a:t> Sync messages</a:t>
            </a:r>
            <a:endParaRPr lang="he-IL" sz="4400" spc="-150" dirty="0">
              <a:cs typeface="OronMF" pitchFamily="2" charset="-79"/>
            </a:endParaRPr>
          </a:p>
        </p:txBody>
      </p:sp>
      <p:sp>
        <p:nvSpPr>
          <p:cNvPr id="3" name="Rectangle 2"/>
          <p:cNvSpPr/>
          <p:nvPr/>
        </p:nvSpPr>
        <p:spPr>
          <a:xfrm>
            <a:off x="448571" y="1785526"/>
            <a:ext cx="8367623" cy="369332"/>
          </a:xfrm>
          <a:prstGeom prst="rect">
            <a:avLst/>
          </a:prstGeom>
        </p:spPr>
        <p:txBody>
          <a:bodyPr wrap="square">
            <a:spAutoFit/>
          </a:bodyPr>
          <a:lstStyle/>
          <a:p>
            <a:pPr algn="l" rtl="0"/>
            <a:r>
              <a:rPr lang="en-US" b="1" dirty="0" smtClean="0">
                <a:solidFill>
                  <a:srgbClr val="171717"/>
                </a:solidFill>
                <a:latin typeface="Segoe UI" panose="020B0502040204020203" pitchFamily="34" charset="0"/>
              </a:rPr>
              <a:t>Http Client Factory</a:t>
            </a:r>
            <a:endParaRPr lang="en-US" b="1" dirty="0"/>
          </a:p>
        </p:txBody>
      </p:sp>
      <p:pic>
        <p:nvPicPr>
          <p:cNvPr id="8" name="Picture 7"/>
          <p:cNvPicPr>
            <a:picLocks noChangeAspect="1"/>
          </p:cNvPicPr>
          <p:nvPr/>
        </p:nvPicPr>
        <p:blipFill>
          <a:blip r:embed="rId2"/>
          <a:stretch>
            <a:fillRect/>
          </a:stretch>
        </p:blipFill>
        <p:spPr>
          <a:xfrm>
            <a:off x="4364145" y="1379696"/>
            <a:ext cx="4779855" cy="3648974"/>
          </a:xfrm>
          <a:prstGeom prst="rect">
            <a:avLst/>
          </a:prstGeom>
        </p:spPr>
      </p:pic>
      <p:sp>
        <p:nvSpPr>
          <p:cNvPr id="9" name="Rectangle 7"/>
          <p:cNvSpPr>
            <a:spLocks noChangeArrowheads="1"/>
          </p:cNvSpPr>
          <p:nvPr/>
        </p:nvSpPr>
        <p:spPr bwMode="auto">
          <a:xfrm>
            <a:off x="362308" y="1084483"/>
            <a:ext cx="74733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algn="l" rtl="0" eaLnBrk="0" fontAlgn="base" hangingPunct="0">
              <a:spcBef>
                <a:spcPct val="0"/>
              </a:spcBef>
              <a:spcAft>
                <a:spcPct val="0"/>
              </a:spcAft>
              <a:defRPr>
                <a:solidFill>
                  <a:schemeClr val="tx1"/>
                </a:solidFill>
                <a:latin typeface="Arial" panose="020B0604020202020204" pitchFamily="34" charset="0"/>
              </a:defRPr>
            </a:lvl2pPr>
            <a:lvl3pPr algn="l" rtl="0" eaLnBrk="0" fontAlgn="base" hangingPunct="0">
              <a:spcBef>
                <a:spcPct val="0"/>
              </a:spcBef>
              <a:spcAft>
                <a:spcPct val="0"/>
              </a:spcAft>
              <a:defRPr>
                <a:solidFill>
                  <a:schemeClr val="tx1"/>
                </a:solidFill>
                <a:latin typeface="Arial" panose="020B0604020202020204" pitchFamily="34" charset="0"/>
              </a:defRPr>
            </a:lvl3pPr>
            <a:lvl4pPr algn="l" rtl="0" eaLnBrk="0" fontAlgn="base" hangingPunct="0">
              <a:spcBef>
                <a:spcPct val="0"/>
              </a:spcBef>
              <a:spcAft>
                <a:spcPct val="0"/>
              </a:spcAft>
              <a:defRPr>
                <a:solidFill>
                  <a:schemeClr val="tx1"/>
                </a:solidFill>
                <a:latin typeface="Arial" panose="020B0604020202020204" pitchFamily="34" charset="0"/>
              </a:defRPr>
            </a:lvl4pPr>
            <a:lvl5pPr algn="l" rtl="0" eaLnBrk="0" fontAlgn="base" hangingPunct="0">
              <a:spcBef>
                <a:spcPct val="0"/>
              </a:spcBef>
              <a:spcAft>
                <a:spcPct val="0"/>
              </a:spcAft>
              <a:defRPr>
                <a:solidFill>
                  <a:schemeClr val="tx1"/>
                </a:solidFill>
                <a:latin typeface="Arial" panose="020B0604020202020204" pitchFamily="34" charset="0"/>
              </a:defRPr>
            </a:lvl5pPr>
            <a:lvl6pPr algn="l" rtl="0" eaLnBrk="0" fontAlgn="base" hangingPunct="0">
              <a:spcBef>
                <a:spcPct val="0"/>
              </a:spcBef>
              <a:spcAft>
                <a:spcPct val="0"/>
              </a:spcAft>
              <a:defRPr>
                <a:solidFill>
                  <a:schemeClr val="tx1"/>
                </a:solidFill>
                <a:latin typeface="Arial" panose="020B0604020202020204" pitchFamily="34" charset="0"/>
              </a:defRPr>
            </a:lvl6pPr>
            <a:lvl7pPr algn="l" rtl="0" eaLnBrk="0" fontAlgn="base" hangingPunct="0">
              <a:spcBef>
                <a:spcPct val="0"/>
              </a:spcBef>
              <a:spcAft>
                <a:spcPct val="0"/>
              </a:spcAft>
              <a:defRPr>
                <a:solidFill>
                  <a:schemeClr val="tx1"/>
                </a:solidFill>
                <a:latin typeface="Arial" panose="020B0604020202020204" pitchFamily="34" charset="0"/>
              </a:defRPr>
            </a:lvl7pPr>
            <a:lvl8pPr algn="l" rtl="0" eaLnBrk="0" fontAlgn="base" hangingPunct="0">
              <a:spcBef>
                <a:spcPct val="0"/>
              </a:spcBef>
              <a:spcAft>
                <a:spcPct val="0"/>
              </a:spcAft>
              <a:defRPr>
                <a:solidFill>
                  <a:schemeClr val="tx1"/>
                </a:solidFill>
                <a:latin typeface="Arial" panose="020B0604020202020204" pitchFamily="34" charset="0"/>
              </a:defRPr>
            </a:lvl8pPr>
            <a:lvl9pPr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Instantiating an </a:t>
            </a:r>
            <a:r>
              <a:rPr kumimoji="0" lang="en-US" altLang="en-US" sz="900" b="0" i="0" u="none" strike="noStrike" cap="none" normalizeH="0" baseline="0" dirty="0" err="1" smtClean="0">
                <a:ln>
                  <a:noFill/>
                </a:ln>
                <a:solidFill>
                  <a:srgbClr val="171717"/>
                </a:solidFill>
                <a:effectLst/>
                <a:latin typeface="SFMono-Regular"/>
              </a:rPr>
              <a:t>HttpClient</a:t>
            </a: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 class for every request will exhaust the number of sockets available under heavy loads. That issue will result in </a:t>
            </a:r>
            <a:r>
              <a:rPr kumimoji="0" lang="en-US" altLang="en-US" sz="900" b="0" i="0" u="none" strike="noStrike" cap="none" normalizeH="0" baseline="0" dirty="0" err="1" smtClean="0">
                <a:ln>
                  <a:noFill/>
                </a:ln>
                <a:solidFill>
                  <a:srgbClr val="171717"/>
                </a:solidFill>
                <a:effectLst/>
                <a:latin typeface="SFMono-Regular"/>
              </a:rPr>
              <a:t>SocketException</a:t>
            </a: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 errors.</a:t>
            </a:r>
            <a:r>
              <a:rPr kumimoji="0" lang="en-US" altLang="en-US" sz="6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8"/>
          <p:cNvSpPr>
            <a:spLocks noChangeArrowheads="1"/>
          </p:cNvSpPr>
          <p:nvPr/>
        </p:nvSpPr>
        <p:spPr bwMode="auto">
          <a:xfrm>
            <a:off x="301922" y="2358217"/>
            <a:ext cx="3502325" cy="38522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80918" tIns="101568" rIns="0" bIns="101568"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600" b="0" i="0" u="none" strike="noStrike" cap="none" normalizeH="0" baseline="0" dirty="0" smtClean="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Provide a central location for naming and configuring logical </a:t>
            </a:r>
            <a:r>
              <a:rPr kumimoji="0" lang="en-US" altLang="en-US" sz="900" b="0" i="0" u="none" strike="noStrike" cap="none" normalizeH="0" baseline="0" dirty="0" err="1" smtClean="0">
                <a:ln>
                  <a:noFill/>
                </a:ln>
                <a:solidFill>
                  <a:srgbClr val="171717"/>
                </a:solidFill>
                <a:effectLst/>
                <a:latin typeface="SFMono-Regular"/>
                <a:cs typeface="Segoe UI" panose="020B0502040204020203" pitchFamily="34" charset="0"/>
              </a:rPr>
              <a:t>HttpClient</a:t>
            </a: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 objects. For example, you may configure a client (Service Agent) that's pre-configured to access a specific </a:t>
            </a:r>
            <a:r>
              <a:rPr kumimoji="0" lang="en-US" altLang="en-US" sz="1200" b="1" i="0" u="none" strike="noStrike" cap="none" normalizeH="0" baseline="0" dirty="0" err="1" smtClean="0">
                <a:ln>
                  <a:noFill/>
                </a:ln>
                <a:solidFill>
                  <a:srgbClr val="171717"/>
                </a:solidFill>
                <a:effectLst/>
                <a:latin typeface="Segoe UI" panose="020B0502040204020203" pitchFamily="34" charset="0"/>
                <a:cs typeface="Segoe UI" panose="020B0502040204020203" pitchFamily="34" charset="0"/>
              </a:rPr>
              <a:t>microservice</a:t>
            </a: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900" b="0" i="0" u="none" strike="noStrike" cap="none" normalizeH="0" baseline="0" dirty="0" smtClean="0">
              <a:ln>
                <a:noFill/>
              </a:ln>
              <a:solidFill>
                <a:srgbClr val="171717"/>
              </a:solidFill>
              <a:effectLst/>
              <a:latin typeface="SFMono-Regular"/>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900" b="0" i="0" u="none" strike="noStrike" cap="none" normalizeH="0" baseline="0" dirty="0" err="1" smtClean="0">
                <a:ln>
                  <a:noFill/>
                </a:ln>
                <a:solidFill>
                  <a:srgbClr val="171717"/>
                </a:solidFill>
                <a:effectLst/>
                <a:latin typeface="SFMono-Regular"/>
                <a:cs typeface="Segoe UI" panose="020B0502040204020203" pitchFamily="34" charset="0"/>
              </a:rPr>
              <a:t>HttpClient</a:t>
            </a: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 already has the concept of delegating handlers that could be linked together for outgoing HTTP requests. You register HTTP clients into the factory and you can use a Polly handler to use Polly policies for Retry, </a:t>
            </a:r>
            <a:r>
              <a:rPr kumimoji="0" lang="en-US" altLang="en-US" sz="1200" b="0" i="0" u="none" strike="noStrike" cap="none" normalizeH="0" baseline="0" dirty="0" err="1" smtClean="0">
                <a:ln>
                  <a:noFill/>
                </a:ln>
                <a:solidFill>
                  <a:srgbClr val="171717"/>
                </a:solidFill>
                <a:effectLst/>
                <a:latin typeface="Segoe UI" panose="020B0502040204020203" pitchFamily="34" charset="0"/>
                <a:cs typeface="Segoe UI" panose="020B0502040204020203" pitchFamily="34" charset="0"/>
              </a:rPr>
              <a:t>CircuitBreakers</a:t>
            </a: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 and so 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Manage the lifetime of </a:t>
            </a:r>
            <a:r>
              <a:rPr kumimoji="0" lang="en-US" altLang="en-US" sz="900" b="0" i="0" u="none" strike="noStrike" cap="none" normalizeH="0" baseline="0" dirty="0" err="1" smtClean="0">
                <a:ln>
                  <a:noFill/>
                </a:ln>
                <a:solidFill>
                  <a:srgbClr val="171717"/>
                </a:solidFill>
                <a:effectLst/>
                <a:latin typeface="SFMono-Regular"/>
                <a:cs typeface="Segoe UI" panose="020B0502040204020203" pitchFamily="34" charset="0"/>
              </a:rPr>
              <a:t>HttpClientMessageHandlers</a:t>
            </a: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 to avoid the mentioned problems/issues that can occur when managing </a:t>
            </a:r>
            <a:r>
              <a:rPr kumimoji="0" lang="en-US" altLang="en-US" sz="900" b="0" i="0" u="none" strike="noStrike" cap="none" normalizeH="0" baseline="0" dirty="0" err="1" smtClean="0">
                <a:ln>
                  <a:noFill/>
                </a:ln>
                <a:solidFill>
                  <a:srgbClr val="171717"/>
                </a:solidFill>
                <a:effectLst/>
                <a:latin typeface="SFMono-Regular"/>
                <a:cs typeface="Segoe UI" panose="020B0502040204020203" pitchFamily="34" charset="0"/>
              </a:rPr>
              <a:t>HttpClient</a:t>
            </a:r>
            <a:r>
              <a:rPr kumimoji="0" lang="en-US" altLang="en-US" sz="1200" b="0" i="0" u="none" strike="noStrike" cap="none" normalizeH="0" baseline="0" dirty="0" smtClean="0">
                <a:ln>
                  <a:noFill/>
                </a:ln>
                <a:solidFill>
                  <a:srgbClr val="171717"/>
                </a:solidFill>
                <a:effectLst/>
                <a:latin typeface="Segoe UI" panose="020B0502040204020203" pitchFamily="34" charset="0"/>
                <a:cs typeface="Segoe UI" panose="020B0502040204020203" pitchFamily="34" charset="0"/>
              </a:rPr>
              <a:t> lifetimes yourself</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p:txBody>
      </p:sp>
      <p:pic>
        <p:nvPicPr>
          <p:cNvPr id="11" name="Picture 10"/>
          <p:cNvPicPr>
            <a:picLocks noChangeAspect="1"/>
          </p:cNvPicPr>
          <p:nvPr/>
        </p:nvPicPr>
        <p:blipFill>
          <a:blip r:embed="rId3"/>
          <a:stretch>
            <a:fillRect/>
          </a:stretch>
        </p:blipFill>
        <p:spPr>
          <a:xfrm>
            <a:off x="3781425" y="5217806"/>
            <a:ext cx="5362575" cy="1323975"/>
          </a:xfrm>
          <a:prstGeom prst="rect">
            <a:avLst/>
          </a:prstGeom>
        </p:spPr>
      </p:pic>
    </p:spTree>
    <p:extLst>
      <p:ext uri="{BB962C8B-B14F-4D97-AF65-F5344CB8AC3E}">
        <p14:creationId xmlns:p14="http://schemas.microsoft.com/office/powerpoint/2010/main" val="2856862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25267" y="32533"/>
            <a:ext cx="9159312" cy="769441"/>
          </a:xfrm>
          <a:prstGeom prst="rect">
            <a:avLst/>
          </a:prstGeom>
        </p:spPr>
        <p:txBody>
          <a:bodyPr wrap="square">
            <a:spAutoFit/>
          </a:bodyPr>
          <a:lstStyle/>
          <a:p>
            <a:pPr algn="ctr" rtl="0"/>
            <a:r>
              <a:rPr lang="en-US" sz="4400" spc="-150" dirty="0" smtClean="0">
                <a:cs typeface="OronMF" pitchFamily="2" charset="-79"/>
              </a:rPr>
              <a:t>Microservices </a:t>
            </a:r>
            <a:r>
              <a:rPr lang="en-IL" sz="4400" spc="-150" dirty="0" smtClean="0">
                <a:cs typeface="OronMF" pitchFamily="2" charset="-79"/>
              </a:rPr>
              <a:t>–</a:t>
            </a:r>
            <a:r>
              <a:rPr lang="en-US" sz="4400" spc="-150" dirty="0" smtClean="0">
                <a:cs typeface="OronMF" pitchFamily="2" charset="-79"/>
              </a:rPr>
              <a:t> Refit</a:t>
            </a:r>
            <a:endParaRPr lang="he-IL" sz="4400" spc="-150" dirty="0">
              <a:cs typeface="OronMF" pitchFamily="2" charset="-79"/>
            </a:endParaRPr>
          </a:p>
        </p:txBody>
      </p:sp>
      <p:sp>
        <p:nvSpPr>
          <p:cNvPr id="3" name="Rectangle 2"/>
          <p:cNvSpPr/>
          <p:nvPr/>
        </p:nvSpPr>
        <p:spPr>
          <a:xfrm>
            <a:off x="346721" y="1138659"/>
            <a:ext cx="7386573" cy="369332"/>
          </a:xfrm>
          <a:prstGeom prst="rect">
            <a:avLst/>
          </a:prstGeom>
        </p:spPr>
        <p:txBody>
          <a:bodyPr wrap="none">
            <a:spAutoFit/>
          </a:bodyPr>
          <a:lstStyle/>
          <a:p>
            <a:pPr algn="l" rtl="0"/>
            <a:r>
              <a:rPr lang="en-US" b="1" dirty="0"/>
              <a:t>Refit: The automatic type-safe REST library for .NET Core, </a:t>
            </a:r>
            <a:r>
              <a:rPr lang="en-US" b="1" dirty="0" err="1"/>
              <a:t>Xamarin</a:t>
            </a:r>
            <a:r>
              <a:rPr lang="en-US" b="1" dirty="0"/>
              <a:t> and .NET</a:t>
            </a:r>
          </a:p>
        </p:txBody>
      </p:sp>
      <p:pic>
        <p:nvPicPr>
          <p:cNvPr id="4" name="Picture 3"/>
          <p:cNvPicPr>
            <a:picLocks noChangeAspect="1"/>
          </p:cNvPicPr>
          <p:nvPr/>
        </p:nvPicPr>
        <p:blipFill>
          <a:blip r:embed="rId2"/>
          <a:stretch>
            <a:fillRect/>
          </a:stretch>
        </p:blipFill>
        <p:spPr>
          <a:xfrm>
            <a:off x="775120" y="1801544"/>
            <a:ext cx="4781550" cy="1352550"/>
          </a:xfrm>
          <a:prstGeom prst="rect">
            <a:avLst/>
          </a:prstGeom>
        </p:spPr>
      </p:pic>
      <p:sp>
        <p:nvSpPr>
          <p:cNvPr id="5" name="Rectangle 1"/>
          <p:cNvSpPr>
            <a:spLocks noChangeArrowheads="1"/>
          </p:cNvSpPr>
          <p:nvPr/>
        </p:nvSpPr>
        <p:spPr bwMode="auto">
          <a:xfrm>
            <a:off x="629729" y="363172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algn="l" rtl="0" eaLnBrk="0" fontAlgn="base" hangingPunct="0">
              <a:spcBef>
                <a:spcPct val="0"/>
              </a:spcBef>
              <a:spcAft>
                <a:spcPct val="0"/>
              </a:spcAft>
              <a:defRPr>
                <a:solidFill>
                  <a:schemeClr val="tx1"/>
                </a:solidFill>
                <a:latin typeface="Arial" panose="020B0604020202020204" pitchFamily="34" charset="0"/>
              </a:defRPr>
            </a:lvl2pPr>
            <a:lvl3pPr algn="l" rtl="0" eaLnBrk="0" fontAlgn="base" hangingPunct="0">
              <a:spcBef>
                <a:spcPct val="0"/>
              </a:spcBef>
              <a:spcAft>
                <a:spcPct val="0"/>
              </a:spcAft>
              <a:defRPr>
                <a:solidFill>
                  <a:schemeClr val="tx1"/>
                </a:solidFill>
                <a:latin typeface="Arial" panose="020B0604020202020204" pitchFamily="34" charset="0"/>
              </a:defRPr>
            </a:lvl3pPr>
            <a:lvl4pPr algn="l" rtl="0" eaLnBrk="0" fontAlgn="base" hangingPunct="0">
              <a:spcBef>
                <a:spcPct val="0"/>
              </a:spcBef>
              <a:spcAft>
                <a:spcPct val="0"/>
              </a:spcAft>
              <a:defRPr>
                <a:solidFill>
                  <a:schemeClr val="tx1"/>
                </a:solidFill>
                <a:latin typeface="Arial" panose="020B0604020202020204" pitchFamily="34" charset="0"/>
              </a:defRPr>
            </a:lvl4pPr>
            <a:lvl5pPr algn="l" rtl="0" eaLnBrk="0" fontAlgn="base" hangingPunct="0">
              <a:spcBef>
                <a:spcPct val="0"/>
              </a:spcBef>
              <a:spcAft>
                <a:spcPct val="0"/>
              </a:spcAft>
              <a:defRPr>
                <a:solidFill>
                  <a:schemeClr val="tx1"/>
                </a:solidFill>
                <a:latin typeface="Arial" panose="020B0604020202020204" pitchFamily="34" charset="0"/>
              </a:defRPr>
            </a:lvl5pPr>
            <a:lvl6pPr algn="l" rtl="0" eaLnBrk="0" fontAlgn="base" hangingPunct="0">
              <a:spcBef>
                <a:spcPct val="0"/>
              </a:spcBef>
              <a:spcAft>
                <a:spcPct val="0"/>
              </a:spcAft>
              <a:defRPr>
                <a:solidFill>
                  <a:schemeClr val="tx1"/>
                </a:solidFill>
                <a:latin typeface="Arial" panose="020B0604020202020204" pitchFamily="34" charset="0"/>
              </a:defRPr>
            </a:lvl6pPr>
            <a:lvl7pPr algn="l" rtl="0" eaLnBrk="0" fontAlgn="base" hangingPunct="0">
              <a:spcBef>
                <a:spcPct val="0"/>
              </a:spcBef>
              <a:spcAft>
                <a:spcPct val="0"/>
              </a:spcAft>
              <a:defRPr>
                <a:solidFill>
                  <a:schemeClr val="tx1"/>
                </a:solidFill>
                <a:latin typeface="Arial" panose="020B0604020202020204" pitchFamily="34" charset="0"/>
              </a:defRPr>
            </a:lvl7pPr>
            <a:lvl8pPr algn="l" rtl="0" eaLnBrk="0" fontAlgn="base" hangingPunct="0">
              <a:spcBef>
                <a:spcPct val="0"/>
              </a:spcBef>
              <a:spcAft>
                <a:spcPct val="0"/>
              </a:spcAft>
              <a:defRPr>
                <a:solidFill>
                  <a:schemeClr val="tx1"/>
                </a:solidFill>
                <a:latin typeface="Arial" panose="020B0604020202020204" pitchFamily="34" charset="0"/>
              </a:defRPr>
            </a:lvl8pPr>
            <a:lvl9pPr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24292E"/>
                </a:solidFill>
                <a:effectLst/>
                <a:latin typeface="-apple-system"/>
              </a:rPr>
              <a:t>The </a:t>
            </a:r>
            <a:r>
              <a:rPr kumimoji="0" lang="en-US" altLang="en-US" sz="900" b="0" i="0" u="none" strike="noStrike" cap="none" normalizeH="0" baseline="0" dirty="0" err="1" smtClean="0">
                <a:ln>
                  <a:noFill/>
                </a:ln>
                <a:solidFill>
                  <a:srgbClr val="24292E"/>
                </a:solidFill>
                <a:effectLst/>
                <a:latin typeface="SFMono-Regular"/>
              </a:rPr>
              <a:t>RestService</a:t>
            </a:r>
            <a:r>
              <a:rPr kumimoji="0" lang="en-US" altLang="en-US" sz="1200" b="0" i="0" u="none" strike="noStrike" cap="none" normalizeH="0" baseline="0" dirty="0" smtClean="0">
                <a:ln>
                  <a:noFill/>
                </a:ln>
                <a:solidFill>
                  <a:srgbClr val="24292E"/>
                </a:solidFill>
                <a:effectLst/>
                <a:latin typeface="-apple-system"/>
              </a:rPr>
              <a:t> class generates an implementation of </a:t>
            </a:r>
            <a:r>
              <a:rPr kumimoji="0" lang="en-US" altLang="en-US" sz="900" b="0" i="0" u="none" strike="noStrike" cap="none" normalizeH="0" baseline="0" dirty="0" err="1" smtClean="0">
                <a:ln>
                  <a:noFill/>
                </a:ln>
                <a:solidFill>
                  <a:srgbClr val="24292E"/>
                </a:solidFill>
                <a:effectLst/>
                <a:latin typeface="SFMono-Regular"/>
              </a:rPr>
              <a:t>IGitHubApi</a:t>
            </a:r>
            <a:r>
              <a:rPr kumimoji="0" lang="en-US" altLang="en-US" sz="1200" b="0" i="0" u="none" strike="noStrike" cap="none" normalizeH="0" baseline="0" dirty="0" smtClean="0">
                <a:ln>
                  <a:noFill/>
                </a:ln>
                <a:solidFill>
                  <a:srgbClr val="24292E"/>
                </a:solidFill>
                <a:effectLst/>
                <a:latin typeface="-apple-system"/>
              </a:rPr>
              <a:t> that uses </a:t>
            </a:r>
            <a:r>
              <a:rPr kumimoji="0" lang="en-US" altLang="en-US" sz="900" b="0" i="0" u="none" strike="noStrike" cap="none" normalizeH="0" baseline="0" dirty="0" err="1" smtClean="0">
                <a:ln>
                  <a:noFill/>
                </a:ln>
                <a:solidFill>
                  <a:srgbClr val="24292E"/>
                </a:solidFill>
                <a:effectLst/>
                <a:latin typeface="SFMono-Regular"/>
              </a:rPr>
              <a:t>HttpClient</a:t>
            </a:r>
            <a:r>
              <a:rPr kumimoji="0" lang="en-US" altLang="en-US" sz="1200" b="0" i="0" u="none" strike="noStrike" cap="none" normalizeH="0" baseline="0" dirty="0" smtClean="0">
                <a:ln>
                  <a:noFill/>
                </a:ln>
                <a:solidFill>
                  <a:srgbClr val="24292E"/>
                </a:solidFill>
                <a:effectLst/>
                <a:latin typeface="-apple-system"/>
              </a:rPr>
              <a:t> to make its calls:</a:t>
            </a:r>
            <a:r>
              <a:rPr kumimoji="0" lang="en-US" altLang="en-US" sz="6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442642" y="3914897"/>
            <a:ext cx="6343650" cy="1114425"/>
          </a:xfrm>
          <a:prstGeom prst="rect">
            <a:avLst/>
          </a:prstGeom>
        </p:spPr>
      </p:pic>
      <p:pic>
        <p:nvPicPr>
          <p:cNvPr id="7" name="Picture 6"/>
          <p:cNvPicPr>
            <a:picLocks noChangeAspect="1"/>
          </p:cNvPicPr>
          <p:nvPr/>
        </p:nvPicPr>
        <p:blipFill>
          <a:blip r:embed="rId4"/>
          <a:stretch>
            <a:fillRect/>
          </a:stretch>
        </p:blipFill>
        <p:spPr>
          <a:xfrm>
            <a:off x="775120" y="5150509"/>
            <a:ext cx="7362825" cy="1457325"/>
          </a:xfrm>
          <a:prstGeom prst="rect">
            <a:avLst/>
          </a:prstGeom>
        </p:spPr>
      </p:pic>
    </p:spTree>
    <p:extLst>
      <p:ext uri="{BB962C8B-B14F-4D97-AF65-F5344CB8AC3E}">
        <p14:creationId xmlns:p14="http://schemas.microsoft.com/office/powerpoint/2010/main" val="2608537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9162" y="0"/>
            <a:ext cx="7615184" cy="830997"/>
          </a:xfrm>
          <a:prstGeom prst="rect">
            <a:avLst/>
          </a:prstGeom>
        </p:spPr>
        <p:txBody>
          <a:bodyPr wrap="square">
            <a:spAutoFit/>
          </a:bodyPr>
          <a:lstStyle/>
          <a:p>
            <a:pPr algn="ctr" rtl="0"/>
            <a:r>
              <a:rPr lang="en-US" sz="4800" spc="-150" dirty="0" smtClean="0">
                <a:cs typeface="OronMF" pitchFamily="2" charset="-79"/>
              </a:rPr>
              <a:t>Microservices - </a:t>
            </a:r>
            <a:r>
              <a:rPr lang="en-US" sz="4800" spc="-150" dirty="0">
                <a:cs typeface="OronMF" pitchFamily="2" charset="-79"/>
              </a:rPr>
              <a:t>messages</a:t>
            </a:r>
            <a:endParaRPr lang="he-IL" sz="4800" spc="-150" dirty="0">
              <a:cs typeface="OronMF" pitchFamily="2" charset="-79"/>
            </a:endParaRPr>
          </a:p>
        </p:txBody>
      </p:sp>
      <p:pic>
        <p:nvPicPr>
          <p:cNvPr id="3074" name="Picture 2" descr="Diagram of asynchronous event-driven communication with an event bu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73811" y="4677338"/>
            <a:ext cx="3515869" cy="17903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 diagram showing the basic publish/subscribe patter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694" y="1265478"/>
            <a:ext cx="7396101" cy="2977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761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iagram showing the addition of an event bus abstraction layer."/>
          <p:cNvSpPr>
            <a:spLocks noChangeAspect="1" noChangeArrowheads="1"/>
          </p:cNvSpPr>
          <p:nvPr/>
        </p:nvSpPr>
        <p:spPr bwMode="auto">
          <a:xfrm>
            <a:off x="155574" y="-144463"/>
            <a:ext cx="4295655" cy="42956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agram showing the addition of an event bus abstraction lay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2"/>
          <a:stretch>
            <a:fillRect/>
          </a:stretch>
        </p:blipFill>
        <p:spPr>
          <a:xfrm>
            <a:off x="5027311" y="3202917"/>
            <a:ext cx="3971925" cy="2781300"/>
          </a:xfrm>
          <a:prstGeom prst="rect">
            <a:avLst/>
          </a:prstGeom>
        </p:spPr>
      </p:pic>
      <p:sp>
        <p:nvSpPr>
          <p:cNvPr id="6" name="Rectangle 5"/>
          <p:cNvSpPr/>
          <p:nvPr/>
        </p:nvSpPr>
        <p:spPr>
          <a:xfrm>
            <a:off x="460375" y="1210271"/>
            <a:ext cx="4572000" cy="923330"/>
          </a:xfrm>
          <a:prstGeom prst="rect">
            <a:avLst/>
          </a:prstGeom>
        </p:spPr>
        <p:txBody>
          <a:bodyPr>
            <a:spAutoFit/>
          </a:bodyPr>
          <a:lstStyle/>
          <a:p>
            <a:pPr algn="l"/>
            <a:r>
              <a:rPr lang="en-US" b="1" dirty="0">
                <a:solidFill>
                  <a:srgbClr val="171717"/>
                </a:solidFill>
                <a:latin typeface="Segoe UI" panose="020B0502040204020203" pitchFamily="34" charset="0"/>
              </a:rPr>
              <a:t>event bus</a:t>
            </a:r>
          </a:p>
          <a:p>
            <a:r>
              <a:rPr lang="en-US" dirty="0"/>
              <a:t/>
            </a:r>
            <a:br>
              <a:rPr lang="en-US" dirty="0"/>
            </a:br>
            <a:r>
              <a:rPr lang="en-US" dirty="0" smtClean="0"/>
              <a:t>	</a:t>
            </a:r>
            <a:endParaRPr lang="en-US" dirty="0"/>
          </a:p>
        </p:txBody>
      </p:sp>
      <p:sp>
        <p:nvSpPr>
          <p:cNvPr id="7" name="Rectangle 6"/>
          <p:cNvSpPr/>
          <p:nvPr/>
        </p:nvSpPr>
        <p:spPr>
          <a:xfrm>
            <a:off x="460375" y="1828800"/>
            <a:ext cx="6837572" cy="923330"/>
          </a:xfrm>
          <a:prstGeom prst="rect">
            <a:avLst/>
          </a:prstGeom>
        </p:spPr>
        <p:txBody>
          <a:bodyPr wrap="square">
            <a:spAutoFit/>
          </a:bodyPr>
          <a:lstStyle/>
          <a:p>
            <a:pPr algn="l" rtl="0"/>
            <a:r>
              <a:rPr lang="en-US" dirty="0">
                <a:solidFill>
                  <a:srgbClr val="171717"/>
                </a:solidFill>
                <a:latin typeface="Segoe UI" panose="020B0502040204020203" pitchFamily="34" charset="0"/>
              </a:rPr>
              <a:t>How do you achieve anonymity between publisher and subscriber? An easy way is let a middleman take care of all the communication. An event bus is one such middleman.</a:t>
            </a:r>
            <a:endParaRPr lang="en-US" dirty="0"/>
          </a:p>
        </p:txBody>
      </p:sp>
      <p:pic>
        <p:nvPicPr>
          <p:cNvPr id="8" name="Picture 7"/>
          <p:cNvPicPr>
            <a:picLocks noChangeAspect="1"/>
          </p:cNvPicPr>
          <p:nvPr/>
        </p:nvPicPr>
        <p:blipFill>
          <a:blip r:embed="rId3"/>
          <a:stretch>
            <a:fillRect/>
          </a:stretch>
        </p:blipFill>
        <p:spPr>
          <a:xfrm>
            <a:off x="584200" y="2965958"/>
            <a:ext cx="4448175" cy="3324225"/>
          </a:xfrm>
          <a:prstGeom prst="rect">
            <a:avLst/>
          </a:prstGeom>
        </p:spPr>
      </p:pic>
      <p:sp>
        <p:nvSpPr>
          <p:cNvPr id="9" name="Rectangle 8"/>
          <p:cNvSpPr/>
          <p:nvPr/>
        </p:nvSpPr>
        <p:spPr>
          <a:xfrm>
            <a:off x="-1128120" y="75665"/>
            <a:ext cx="9159312" cy="769441"/>
          </a:xfrm>
          <a:prstGeom prst="rect">
            <a:avLst/>
          </a:prstGeom>
        </p:spPr>
        <p:txBody>
          <a:bodyPr wrap="square">
            <a:spAutoFit/>
          </a:bodyPr>
          <a:lstStyle/>
          <a:p>
            <a:pPr algn="ctr" rtl="0"/>
            <a:r>
              <a:rPr lang="en-US" sz="4400" spc="-150" dirty="0" smtClean="0">
                <a:cs typeface="OronMF" pitchFamily="2" charset="-79"/>
              </a:rPr>
              <a:t>Microservices </a:t>
            </a:r>
            <a:r>
              <a:rPr lang="en-IL" sz="4400" spc="-150" dirty="0" smtClean="0">
                <a:cs typeface="OronMF" pitchFamily="2" charset="-79"/>
              </a:rPr>
              <a:t>–</a:t>
            </a:r>
            <a:r>
              <a:rPr lang="en-US" sz="4400" spc="-150" dirty="0" smtClean="0">
                <a:cs typeface="OronMF" pitchFamily="2" charset="-79"/>
              </a:rPr>
              <a:t> </a:t>
            </a:r>
            <a:r>
              <a:rPr lang="en-US" sz="4400" spc="-150" dirty="0" err="1" smtClean="0">
                <a:cs typeface="OronMF" pitchFamily="2" charset="-79"/>
              </a:rPr>
              <a:t>Async</a:t>
            </a:r>
            <a:r>
              <a:rPr lang="en-US" sz="4400" spc="-150" dirty="0" smtClean="0">
                <a:cs typeface="OronMF" pitchFamily="2" charset="-79"/>
              </a:rPr>
              <a:t> messages</a:t>
            </a:r>
            <a:endParaRPr lang="he-IL" sz="4400" spc="-150" dirty="0">
              <a:cs typeface="OronMF" pitchFamily="2" charset="-79"/>
            </a:endParaRPr>
          </a:p>
        </p:txBody>
      </p:sp>
    </p:spTree>
    <p:extLst>
      <p:ext uri="{BB962C8B-B14F-4D97-AF65-F5344CB8AC3E}">
        <p14:creationId xmlns:p14="http://schemas.microsoft.com/office/powerpoint/2010/main" val="786085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X, X Everywhere Meme | MICROSERVICES THEY ARE EVERY WHERE | image tagged in memes,x x everywhere | made w/ Imgflip meme mak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831" y="1371601"/>
            <a:ext cx="7000875" cy="4762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27649" y="17252"/>
            <a:ext cx="2959016" cy="769441"/>
          </a:xfrm>
          <a:prstGeom prst="rect">
            <a:avLst/>
          </a:prstGeom>
        </p:spPr>
        <p:txBody>
          <a:bodyPr wrap="none">
            <a:spAutoFit/>
          </a:bodyPr>
          <a:lstStyle/>
          <a:p>
            <a:r>
              <a:rPr lang="en-US" sz="4400" spc="-150" dirty="0">
                <a:cs typeface="OronMF" pitchFamily="2" charset="-79"/>
              </a:rPr>
              <a:t>Api Gateway </a:t>
            </a:r>
          </a:p>
        </p:txBody>
      </p:sp>
    </p:spTree>
    <p:extLst>
      <p:ext uri="{BB962C8B-B14F-4D97-AF65-F5344CB8AC3E}">
        <p14:creationId xmlns:p14="http://schemas.microsoft.com/office/powerpoint/2010/main" val="1489892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2204" y="1148115"/>
            <a:ext cx="1082348" cy="369332"/>
          </a:xfrm>
          <a:prstGeom prst="rect">
            <a:avLst/>
          </a:prstGeom>
        </p:spPr>
        <p:txBody>
          <a:bodyPr wrap="none">
            <a:spAutoFit/>
          </a:bodyPr>
          <a:lstStyle/>
          <a:p>
            <a:pPr algn="l"/>
            <a:r>
              <a:rPr lang="en-US" dirty="0" smtClean="0">
                <a:solidFill>
                  <a:srgbClr val="505071"/>
                </a:solidFill>
                <a:latin typeface="smoolthanbold"/>
              </a:rPr>
              <a:t>Benefits:</a:t>
            </a:r>
            <a:endParaRPr lang="en-US" b="0" i="0" dirty="0">
              <a:solidFill>
                <a:srgbClr val="505071"/>
              </a:solidFill>
              <a:effectLst/>
              <a:latin typeface="smoolthanbold"/>
            </a:endParaRPr>
          </a:p>
        </p:txBody>
      </p:sp>
      <p:sp>
        <p:nvSpPr>
          <p:cNvPr id="3" name="Rectangle 2"/>
          <p:cNvSpPr/>
          <p:nvPr/>
        </p:nvSpPr>
        <p:spPr>
          <a:xfrm>
            <a:off x="332203" y="1639344"/>
            <a:ext cx="7379811" cy="2308324"/>
          </a:xfrm>
          <a:prstGeom prst="rect">
            <a:avLst/>
          </a:prstGeom>
        </p:spPr>
        <p:txBody>
          <a:bodyPr wrap="square">
            <a:spAutoFit/>
          </a:bodyPr>
          <a:lstStyle/>
          <a:p>
            <a:pPr marL="285750" indent="-285750" algn="l" rtl="0">
              <a:buFont typeface="Arial" panose="020B0604020202020204" pitchFamily="34" charset="0"/>
              <a:buChar char="•"/>
            </a:pPr>
            <a:r>
              <a:rPr lang="en-US" dirty="0"/>
              <a:t>Insulates the clients from how the application is partitioned into </a:t>
            </a:r>
            <a:r>
              <a:rPr lang="en-US" dirty="0" err="1"/>
              <a:t>microservices</a:t>
            </a:r>
            <a:endParaRPr lang="en-US" b="1" dirty="0">
              <a:solidFill>
                <a:srgbClr val="7A79A1"/>
              </a:solidFill>
              <a:latin typeface="Open Sans"/>
            </a:endParaRPr>
          </a:p>
          <a:p>
            <a:pPr marL="285750" indent="-285750" algn="l" rtl="0">
              <a:buFont typeface="Arial" panose="020B0604020202020204" pitchFamily="34" charset="0"/>
              <a:buChar char="•"/>
            </a:pPr>
            <a:r>
              <a:rPr lang="en-US" dirty="0"/>
              <a:t>Insulates the clients from the problem of determining the locations of service instances</a:t>
            </a:r>
            <a:endParaRPr lang="en-US" b="1" dirty="0"/>
          </a:p>
          <a:p>
            <a:pPr marL="285750" indent="-285750" algn="l" rtl="0">
              <a:buFont typeface="Arial" panose="020B0604020202020204" pitchFamily="34" charset="0"/>
              <a:buChar char="•"/>
            </a:pPr>
            <a:r>
              <a:rPr lang="en-US" dirty="0"/>
              <a:t>Reduces the number of requests/roundtrips. For example, the API gateway enables clients to retrieve data from multiple services with a single round-trip. Fewer requests also means less overhead and improves the user experience. An API gateway is essential for mobile applications</a:t>
            </a:r>
            <a:endParaRPr lang="en-US" dirty="0"/>
          </a:p>
        </p:txBody>
      </p:sp>
      <p:pic>
        <p:nvPicPr>
          <p:cNvPr id="4" name="Content Placeholder 5">
            <a:extLst>
              <a:ext uri="{FF2B5EF4-FFF2-40B4-BE49-F238E27FC236}">
                <a16:creationId xmlns:a16="http://schemas.microsoft.com/office/drawing/2014/main" id="{DCE15160-C98E-4CD2-A027-B66B1410E43E}"/>
              </a:ext>
            </a:extLst>
          </p:cNvPr>
          <p:cNvPicPr>
            <a:picLocks noGrp="1"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xmlns:lc="http://schemas.openxmlformats.org/drawingml/2006/lockedCanvas" r:embed="rId4"/>
              </a:ext>
            </a:extLst>
          </a:blip>
          <a:stretch>
            <a:fillRect/>
          </a:stretch>
        </p:blipFill>
        <p:spPr bwMode="auto">
          <a:xfrm>
            <a:off x="3579963" y="4166724"/>
            <a:ext cx="4681110" cy="2475587"/>
          </a:xfrm>
          <a:prstGeom prst="rect">
            <a:avLst/>
          </a:prstGeom>
          <a:solidFill>
            <a:schemeClr val="tx1"/>
          </a:solidFill>
          <a:effectLst>
            <a:outerShdw blurRad="25400" dir="17880000">
              <a:srgbClr val="000000">
                <a:alpha val="46000"/>
              </a:srgbClr>
            </a:outerShdw>
          </a:effectLst>
          <a:extLst/>
        </p:spPr>
      </p:pic>
      <p:sp>
        <p:nvSpPr>
          <p:cNvPr id="5" name="Rectangle 4"/>
          <p:cNvSpPr/>
          <p:nvPr/>
        </p:nvSpPr>
        <p:spPr>
          <a:xfrm>
            <a:off x="327649" y="17252"/>
            <a:ext cx="2959016" cy="769441"/>
          </a:xfrm>
          <a:prstGeom prst="rect">
            <a:avLst/>
          </a:prstGeom>
        </p:spPr>
        <p:txBody>
          <a:bodyPr wrap="none">
            <a:spAutoFit/>
          </a:bodyPr>
          <a:lstStyle/>
          <a:p>
            <a:r>
              <a:rPr lang="en-US" sz="4400" spc="-150" dirty="0">
                <a:cs typeface="OronMF" pitchFamily="2" charset="-79"/>
              </a:rPr>
              <a:t>Api Gateway </a:t>
            </a:r>
          </a:p>
        </p:txBody>
      </p:sp>
    </p:spTree>
    <p:extLst>
      <p:ext uri="{BB962C8B-B14F-4D97-AF65-F5344CB8AC3E}">
        <p14:creationId xmlns:p14="http://schemas.microsoft.com/office/powerpoint/2010/main" val="1073386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8EE0EB-0D5D-4185-9C43-CE4F9BBEF447}"/>
              </a:ext>
            </a:extLst>
          </p:cNvPr>
          <p:cNvPicPr>
            <a:picLocks noChangeAspect="1"/>
          </p:cNvPicPr>
          <p:nvPr/>
        </p:nvPicPr>
        <p:blipFill>
          <a:blip r:embed="rId2"/>
          <a:stretch>
            <a:fillRect/>
          </a:stretch>
        </p:blipFill>
        <p:spPr>
          <a:xfrm>
            <a:off x="5846982" y="2880831"/>
            <a:ext cx="2867425" cy="3391373"/>
          </a:xfrm>
          <a:prstGeom prst="rect">
            <a:avLst/>
          </a:prstGeom>
        </p:spPr>
      </p:pic>
      <p:sp>
        <p:nvSpPr>
          <p:cNvPr id="3" name="Rectangle 2"/>
          <p:cNvSpPr/>
          <p:nvPr/>
        </p:nvSpPr>
        <p:spPr>
          <a:xfrm>
            <a:off x="224287" y="1150401"/>
            <a:ext cx="8393502" cy="923330"/>
          </a:xfrm>
          <a:prstGeom prst="rect">
            <a:avLst/>
          </a:prstGeom>
        </p:spPr>
        <p:txBody>
          <a:bodyPr wrap="square">
            <a:spAutoFit/>
          </a:bodyPr>
          <a:lstStyle/>
          <a:p>
            <a:pPr algn="l" rtl="0"/>
            <a:r>
              <a:rPr lang="en-US" dirty="0"/>
              <a:t>Ocelot is a .NET API Gateway. This project is aimed at people using .NET running a micro services / service oriented architecture that need a unified point of entry into their system</a:t>
            </a:r>
          </a:p>
        </p:txBody>
      </p:sp>
      <p:sp>
        <p:nvSpPr>
          <p:cNvPr id="4" name="Rectangle 3"/>
          <p:cNvSpPr/>
          <p:nvPr/>
        </p:nvSpPr>
        <p:spPr>
          <a:xfrm>
            <a:off x="327649" y="17252"/>
            <a:ext cx="4840941" cy="769441"/>
          </a:xfrm>
          <a:prstGeom prst="rect">
            <a:avLst/>
          </a:prstGeom>
        </p:spPr>
        <p:txBody>
          <a:bodyPr wrap="none">
            <a:spAutoFit/>
          </a:bodyPr>
          <a:lstStyle/>
          <a:p>
            <a:pPr algn="l" rtl="0"/>
            <a:r>
              <a:rPr lang="en-US" sz="4400" spc="-150" dirty="0">
                <a:cs typeface="OronMF" pitchFamily="2" charset="-79"/>
              </a:rPr>
              <a:t>Api </a:t>
            </a:r>
            <a:r>
              <a:rPr lang="en-US" sz="4400" spc="-150" dirty="0" smtClean="0">
                <a:cs typeface="OronMF" pitchFamily="2" charset="-79"/>
              </a:rPr>
              <a:t>Gateway - </a:t>
            </a:r>
            <a:r>
              <a:rPr lang="en-US" sz="4400" dirty="0"/>
              <a:t>Ocelot</a:t>
            </a:r>
            <a:r>
              <a:rPr lang="en-US" sz="4400" spc="-150" dirty="0" smtClean="0">
                <a:cs typeface="OronMF" pitchFamily="2" charset="-79"/>
              </a:rPr>
              <a:t> </a:t>
            </a:r>
            <a:endParaRPr lang="en-US" sz="4400" spc="-150" dirty="0">
              <a:cs typeface="OronMF" pitchFamily="2" charset="-79"/>
            </a:endParaRPr>
          </a:p>
        </p:txBody>
      </p:sp>
      <p:sp>
        <p:nvSpPr>
          <p:cNvPr id="5" name="Rectangle 4"/>
          <p:cNvSpPr/>
          <p:nvPr/>
        </p:nvSpPr>
        <p:spPr>
          <a:xfrm>
            <a:off x="586596" y="2313203"/>
            <a:ext cx="4572000" cy="3970318"/>
          </a:xfrm>
          <a:prstGeom prst="rect">
            <a:avLst/>
          </a:prstGeom>
        </p:spPr>
        <p:txBody>
          <a:bodyPr>
            <a:spAutoFit/>
          </a:bodyPr>
          <a:lstStyle/>
          <a:p>
            <a:pPr marL="285750" indent="-285750" algn="l" rtl="0">
              <a:buFont typeface="Arial" panose="020B0604020202020204" pitchFamily="34" charset="0"/>
              <a:buChar char="•"/>
            </a:pPr>
            <a:r>
              <a:rPr lang="en-US" dirty="0">
                <a:solidFill>
                  <a:srgbClr val="24292E"/>
                </a:solidFill>
                <a:latin typeface="-apple-system"/>
              </a:rPr>
              <a:t>Routing</a:t>
            </a:r>
          </a:p>
          <a:p>
            <a:pPr marL="285750" indent="-285750" algn="l" rtl="0">
              <a:buFont typeface="Arial" panose="020B0604020202020204" pitchFamily="34" charset="0"/>
              <a:buChar char="•"/>
            </a:pPr>
            <a:r>
              <a:rPr lang="en-US" dirty="0">
                <a:solidFill>
                  <a:srgbClr val="24292E"/>
                </a:solidFill>
                <a:latin typeface="-apple-system"/>
              </a:rPr>
              <a:t>Request Aggregation</a:t>
            </a:r>
          </a:p>
          <a:p>
            <a:pPr marL="285750" indent="-285750" algn="l" rtl="0">
              <a:buFont typeface="Arial" panose="020B0604020202020204" pitchFamily="34" charset="0"/>
              <a:buChar char="•"/>
            </a:pPr>
            <a:r>
              <a:rPr lang="en-US" dirty="0">
                <a:solidFill>
                  <a:srgbClr val="24292E"/>
                </a:solidFill>
                <a:latin typeface="-apple-system"/>
              </a:rPr>
              <a:t>Service Discovery with Consul &amp; Eureka</a:t>
            </a:r>
          </a:p>
          <a:p>
            <a:pPr marL="285750" indent="-285750" algn="l" rtl="0">
              <a:buFont typeface="Arial" panose="020B0604020202020204" pitchFamily="34" charset="0"/>
              <a:buChar char="•"/>
            </a:pPr>
            <a:r>
              <a:rPr lang="en-US" dirty="0" smtClean="0">
                <a:solidFill>
                  <a:srgbClr val="24292E"/>
                </a:solidFill>
                <a:latin typeface="-apple-system"/>
              </a:rPr>
              <a:t>Authentication</a:t>
            </a:r>
            <a:endParaRPr lang="en-US" dirty="0">
              <a:solidFill>
                <a:srgbClr val="24292E"/>
              </a:solidFill>
              <a:latin typeface="-apple-system"/>
            </a:endParaRPr>
          </a:p>
          <a:p>
            <a:pPr marL="285750" indent="-285750" algn="l" rtl="0">
              <a:buFont typeface="Arial" panose="020B0604020202020204" pitchFamily="34" charset="0"/>
              <a:buChar char="•"/>
            </a:pPr>
            <a:r>
              <a:rPr lang="en-US" dirty="0" err="1">
                <a:solidFill>
                  <a:srgbClr val="24292E"/>
                </a:solidFill>
                <a:latin typeface="-apple-system"/>
              </a:rPr>
              <a:t>Authorisation</a:t>
            </a:r>
            <a:endParaRPr lang="en-US" dirty="0">
              <a:solidFill>
                <a:srgbClr val="24292E"/>
              </a:solidFill>
              <a:latin typeface="-apple-system"/>
            </a:endParaRPr>
          </a:p>
          <a:p>
            <a:pPr marL="285750" indent="-285750" algn="l" rtl="0">
              <a:buFont typeface="Arial" panose="020B0604020202020204" pitchFamily="34" charset="0"/>
              <a:buChar char="•"/>
            </a:pPr>
            <a:r>
              <a:rPr lang="en-US" dirty="0" smtClean="0">
                <a:solidFill>
                  <a:srgbClr val="24292E"/>
                </a:solidFill>
                <a:latin typeface="-apple-system"/>
              </a:rPr>
              <a:t>Caching</a:t>
            </a:r>
            <a:endParaRPr lang="en-US" dirty="0">
              <a:solidFill>
                <a:srgbClr val="24292E"/>
              </a:solidFill>
              <a:latin typeface="-apple-system"/>
            </a:endParaRPr>
          </a:p>
          <a:p>
            <a:pPr marL="285750" indent="-285750" algn="l" rtl="0">
              <a:buFont typeface="Arial" panose="020B0604020202020204" pitchFamily="34" charset="0"/>
              <a:buChar char="•"/>
            </a:pPr>
            <a:r>
              <a:rPr lang="en-US" dirty="0" smtClean="0">
                <a:solidFill>
                  <a:srgbClr val="24292E"/>
                </a:solidFill>
                <a:latin typeface="-apple-system"/>
              </a:rPr>
              <a:t>Load </a:t>
            </a:r>
            <a:r>
              <a:rPr lang="en-US" dirty="0">
                <a:solidFill>
                  <a:srgbClr val="24292E"/>
                </a:solidFill>
                <a:latin typeface="-apple-system"/>
              </a:rPr>
              <a:t>Balancing</a:t>
            </a:r>
          </a:p>
          <a:p>
            <a:pPr marL="285750" indent="-285750" algn="l" rtl="0">
              <a:buFont typeface="Arial" panose="020B0604020202020204" pitchFamily="34" charset="0"/>
              <a:buChar char="•"/>
            </a:pPr>
            <a:r>
              <a:rPr lang="en-US" dirty="0">
                <a:solidFill>
                  <a:srgbClr val="24292E"/>
                </a:solidFill>
                <a:latin typeface="-apple-system"/>
              </a:rPr>
              <a:t>Logging / Tracing / Correlation</a:t>
            </a:r>
          </a:p>
          <a:p>
            <a:pPr marL="285750" indent="-285750" algn="l" rtl="0">
              <a:buFont typeface="Arial" panose="020B0604020202020204" pitchFamily="34" charset="0"/>
              <a:buChar char="•"/>
            </a:pPr>
            <a:r>
              <a:rPr lang="en-US" dirty="0">
                <a:solidFill>
                  <a:srgbClr val="24292E"/>
                </a:solidFill>
                <a:latin typeface="-apple-system"/>
              </a:rPr>
              <a:t>Headers / Query String / Claims Transformation</a:t>
            </a:r>
          </a:p>
          <a:p>
            <a:pPr marL="285750" indent="-285750" algn="l" rtl="0">
              <a:buFont typeface="Arial" panose="020B0604020202020204" pitchFamily="34" charset="0"/>
              <a:buChar char="•"/>
            </a:pPr>
            <a:r>
              <a:rPr lang="en-US" dirty="0">
                <a:solidFill>
                  <a:srgbClr val="24292E"/>
                </a:solidFill>
                <a:latin typeface="-apple-system"/>
              </a:rPr>
              <a:t>Custom Middleware / Delegating Handlers</a:t>
            </a:r>
          </a:p>
          <a:p>
            <a:pPr marL="285750" indent="-285750" algn="l" rtl="0">
              <a:buFont typeface="Arial" panose="020B0604020202020204" pitchFamily="34" charset="0"/>
              <a:buChar char="•"/>
            </a:pPr>
            <a:r>
              <a:rPr lang="en-US" dirty="0">
                <a:solidFill>
                  <a:srgbClr val="24292E"/>
                </a:solidFill>
                <a:latin typeface="-apple-system"/>
              </a:rPr>
              <a:t>Configuration / Administration REST API</a:t>
            </a:r>
          </a:p>
          <a:p>
            <a:pPr marL="285750" indent="-285750" algn="l" rtl="0">
              <a:buFont typeface="Arial" panose="020B0604020202020204" pitchFamily="34" charset="0"/>
              <a:buChar char="•"/>
            </a:pPr>
            <a:r>
              <a:rPr lang="en-US" dirty="0">
                <a:solidFill>
                  <a:srgbClr val="24292E"/>
                </a:solidFill>
                <a:latin typeface="-apple-system"/>
              </a:rPr>
              <a:t>Platform / Cloud Agnostic</a:t>
            </a:r>
            <a:endParaRPr lang="en-US" b="0" i="0" dirty="0">
              <a:solidFill>
                <a:srgbClr val="24292E"/>
              </a:solidFill>
              <a:effectLst/>
              <a:latin typeface="-apple-system"/>
            </a:endParaRPr>
          </a:p>
        </p:txBody>
      </p:sp>
    </p:spTree>
    <p:extLst>
      <p:ext uri="{BB962C8B-B14F-4D97-AF65-F5344CB8AC3E}">
        <p14:creationId xmlns:p14="http://schemas.microsoft.com/office/powerpoint/2010/main" val="3894552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095663"/>
      </p:ext>
    </p:extLst>
  </p:cSld>
  <p:clrMapOvr>
    <a:masterClrMapping/>
  </p:clrMapOvr>
</p:sld>
</file>

<file path=ppt/theme/theme1.xml><?xml version="1.0" encoding="utf-8"?>
<a:theme xmlns:a="http://schemas.openxmlformats.org/drawingml/2006/main" name="ערכת נושא Office">
  <a:themeElements>
    <a:clrScheme name="ערכת נושא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ערכת נושא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ערכת נושא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1200</TotalTime>
  <Words>1111</Words>
  <Application>Microsoft Office PowerPoint</Application>
  <PresentationFormat>On-screen Show (4:3)</PresentationFormat>
  <Paragraphs>167</Paragraphs>
  <Slides>31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-apple-system</vt:lpstr>
      <vt:lpstr>Arial</vt:lpstr>
      <vt:lpstr>Calibri</vt:lpstr>
      <vt:lpstr>Open Sans</vt:lpstr>
      <vt:lpstr>OronMF</vt:lpstr>
      <vt:lpstr>Segoe UI</vt:lpstr>
      <vt:lpstr>Segoe UI Web (West European)</vt:lpstr>
      <vt:lpstr>SFMono-Regular</vt:lpstr>
      <vt:lpstr>smoolthanbold</vt:lpstr>
      <vt:lpstr>ערכת נושא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Shay Yossef</dc:creator>
  <cp:lastModifiedBy>שמעון דהן</cp:lastModifiedBy>
  <cp:revision>29</cp:revision>
  <dcterms:created xsi:type="dcterms:W3CDTF">2018-08-16T11:25:45Z</dcterms:created>
  <dcterms:modified xsi:type="dcterms:W3CDTF">2019-11-14T08:28:01Z</dcterms:modified>
</cp:coreProperties>
</file>